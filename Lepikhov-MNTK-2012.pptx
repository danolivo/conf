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charts/chart5.xml" ContentType="application/vnd.openxmlformats-officedocument.drawingml.chart+xml"/>
  <Override PartName="/ppt/slides/slide2.xml" ContentType="application/vnd.openxmlformats-officedocument.presentationml.slide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343" autoAdjust="0"/>
  </p:normalViewPr>
  <p:slideViewPr>
    <p:cSldViewPr>
      <p:cViewPr varScale="1">
        <p:scale>
          <a:sx n="87" d="100"/>
          <a:sy n="87" d="100"/>
        </p:scale>
        <p:origin x="-2220" y="-84"/>
      </p:cViewPr>
      <p:guideLst>
        <p:guide pos="2205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themeOverride" Target="../theme/themeOverride1.xml" /><Relationship Id="rId2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themeOverride" Target="../theme/themeOverride1.xml" /><Relationship Id="rId2" Type="http://schemas.openxmlformats.org/officeDocument/2006/relationships/package" Target="../embeddings/Microsoft_Excel_Worksheet3.xlsx" 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themeOverride" Target="../theme/themeOverride1.xml" /><Relationship Id="rId2" Type="http://schemas.openxmlformats.org/officeDocument/2006/relationships/package" Target="../embeddings/Microsoft_Excel_Worksheet4.xlsx" 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4378888888888891"/>
          <c:y val="0.020338946866091515"/>
          <c:w val="0.82828287037037063"/>
          <c:h val="0.83476319444444469"/>
        </c:manualLayout>
      </c:layout>
      <c:scatterChart>
        <c:scatterStyle val="lineMarker"/>
        <c:varyColors val="0"/>
        <c:ser>
          <c:idx val="0"/>
          <c:order val="0"/>
          <c:tx>
            <c:strRef>
              <c:f xml:space="preserve">'Всё 60-30'!$D$2</c:f>
              <c:strCache>
                <c:ptCount val="1"/>
                <c:pt idx="0">
                  <c:v>Номинал</c:v>
                </c:pt>
              </c:strCache>
            </c:strRef>
          </c:tx>
          <c:spPr>
            <a:ln w="3175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60-30'!$D$3:$D$38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50.100000000000023</c:v>
                </c:pt>
                <c:pt idx="15">
                  <c:v>50.100000000000023</c:v>
                </c:pt>
                <c:pt idx="16">
                  <c:v>50.20000000000001</c:v>
                </c:pt>
                <c:pt idx="17">
                  <c:v>50.300000000000004</c:v>
                </c:pt>
                <c:pt idx="18">
                  <c:v>50.5</c:v>
                </c:pt>
                <c:pt idx="19">
                  <c:v>50.70000000000001</c:v>
                </c:pt>
                <c:pt idx="20">
                  <c:v>50.9</c:v>
                </c:pt>
                <c:pt idx="21">
                  <c:v>51.300000000000004</c:v>
                </c:pt>
                <c:pt idx="22">
                  <c:v>51.70000000000001</c:v>
                </c:pt>
                <c:pt idx="23">
                  <c:v>52.300000000000004</c:v>
                </c:pt>
                <c:pt idx="24">
                  <c:v>53.100000000000023</c:v>
                </c:pt>
                <c:pt idx="25">
                  <c:v>54</c:v>
                </c:pt>
                <c:pt idx="26">
                  <c:v>55.100000000000023</c:v>
                </c:pt>
                <c:pt idx="27">
                  <c:v>56.600000000000023</c:v>
                </c:pt>
                <c:pt idx="28">
                  <c:v>58.300000000000004</c:v>
                </c:pt>
                <c:pt idx="29">
                  <c:v>60.5</c:v>
                </c:pt>
                <c:pt idx="30">
                  <c:v>63.100000000000023</c:v>
                </c:pt>
                <c:pt idx="31">
                  <c:v>66.399999999999977</c:v>
                </c:pt>
                <c:pt idx="32">
                  <c:v>70.800000000000011</c:v>
                </c:pt>
                <c:pt idx="33">
                  <c:v>77.600000000000009</c:v>
                </c:pt>
                <c:pt idx="34">
                  <c:v>90.300000000000011</c:v>
                </c:pt>
                <c:pt idx="35">
                  <c:v>108.10000000000001</c:v>
                </c:pt>
              </c:numCache>
            </c:numRef>
          </c:yVal>
          <c:smooth val="0"/>
        </c:ser>
        <c:ser>
          <c:idx val="3"/>
          <c:order val="1"/>
          <c:tx>
            <c:strRef>
              <c:f xml:space="preserve">'Всё 60-30'!$Y$2</c:f>
              <c:strCache>
                <c:ptCount val="1"/>
                <c:pt idx="0">
                  <c:v>Эксперимент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60-30'!$Y$3:$Y$38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50.100000000000023</c:v>
                </c:pt>
                <c:pt idx="12">
                  <c:v>50.100000000000023</c:v>
                </c:pt>
                <c:pt idx="13">
                  <c:v>50.20000000000001</c:v>
                </c:pt>
                <c:pt idx="14">
                  <c:v>50.20000000000001</c:v>
                </c:pt>
                <c:pt idx="15">
                  <c:v>50.4</c:v>
                </c:pt>
                <c:pt idx="16">
                  <c:v>50.600000000000023</c:v>
                </c:pt>
                <c:pt idx="17">
                  <c:v>50.800000000000004</c:v>
                </c:pt>
                <c:pt idx="18">
                  <c:v>51.20000000000001</c:v>
                </c:pt>
                <c:pt idx="19">
                  <c:v>51.600000000000023</c:v>
                </c:pt>
                <c:pt idx="20">
                  <c:v>52.300000000000004</c:v>
                </c:pt>
                <c:pt idx="21">
                  <c:v>53</c:v>
                </c:pt>
                <c:pt idx="22">
                  <c:v>54</c:v>
                </c:pt>
                <c:pt idx="23">
                  <c:v>55.300000000000004</c:v>
                </c:pt>
                <c:pt idx="24">
                  <c:v>56.800000000000004</c:v>
                </c:pt>
                <c:pt idx="25">
                  <c:v>58.600000000000023</c:v>
                </c:pt>
                <c:pt idx="26">
                  <c:v>60.9</c:v>
                </c:pt>
                <c:pt idx="27">
                  <c:v>63.70000000000001</c:v>
                </c:pt>
                <c:pt idx="28">
                  <c:v>67.2</c:v>
                </c:pt>
                <c:pt idx="29">
                  <c:v>71.899999999999977</c:v>
                </c:pt>
                <c:pt idx="30">
                  <c:v>79.5</c:v>
                </c:pt>
                <c:pt idx="31">
                  <c:v>95.100000000000009</c:v>
                </c:pt>
                <c:pt idx="32">
                  <c:v>124.10000000000001</c:v>
                </c:pt>
                <c:pt idx="33">
                  <c:v>164.10000000000002</c:v>
                </c:pt>
                <c:pt idx="34">
                  <c:v>210.10000000000002</c:v>
                </c:pt>
                <c:pt idx="35">
                  <c:v>247.70000000000005</c:v>
                </c:pt>
              </c:numCache>
            </c:numRef>
          </c:yVal>
          <c:smooth val="0"/>
        </c:ser>
        <c:ser>
          <c:idx val="7"/>
          <c:order val="2"/>
          <c:tx>
            <c:v xml:space="preserve">Деградация на 10%</c:v>
          </c:tx>
          <c:spPr>
            <a:ln w="31750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60-30'!$I$3:$I$38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50.100000000000023</c:v>
                </c:pt>
                <c:pt idx="12">
                  <c:v>50.100000000000023</c:v>
                </c:pt>
                <c:pt idx="13">
                  <c:v>50.20000000000001</c:v>
                </c:pt>
                <c:pt idx="14">
                  <c:v>50.20000000000001</c:v>
                </c:pt>
                <c:pt idx="15">
                  <c:v>50.4</c:v>
                </c:pt>
                <c:pt idx="16">
                  <c:v>50.5</c:v>
                </c:pt>
                <c:pt idx="17">
                  <c:v>50.800000000000004</c:v>
                </c:pt>
                <c:pt idx="18">
                  <c:v>51.100000000000023</c:v>
                </c:pt>
                <c:pt idx="19">
                  <c:v>51.600000000000023</c:v>
                </c:pt>
                <c:pt idx="20">
                  <c:v>52.20000000000001</c:v>
                </c:pt>
                <c:pt idx="21">
                  <c:v>52.9</c:v>
                </c:pt>
                <c:pt idx="22">
                  <c:v>53.9</c:v>
                </c:pt>
                <c:pt idx="23">
                  <c:v>55</c:v>
                </c:pt>
                <c:pt idx="24">
                  <c:v>56.5</c:v>
                </c:pt>
                <c:pt idx="25">
                  <c:v>58.300000000000004</c:v>
                </c:pt>
                <c:pt idx="26">
                  <c:v>60.4</c:v>
                </c:pt>
                <c:pt idx="27">
                  <c:v>63.100000000000023</c:v>
                </c:pt>
                <c:pt idx="28">
                  <c:v>66.2</c:v>
                </c:pt>
                <c:pt idx="29">
                  <c:v>70.100000000000009</c:v>
                </c:pt>
                <c:pt idx="30">
                  <c:v>75.2</c:v>
                </c:pt>
                <c:pt idx="31">
                  <c:v>83.300000000000011</c:v>
                </c:pt>
                <c:pt idx="32">
                  <c:v>99.5</c:v>
                </c:pt>
                <c:pt idx="33">
                  <c:v>129.30000000000001</c:v>
                </c:pt>
                <c:pt idx="34">
                  <c:v>169.4</c:v>
                </c:pt>
                <c:pt idx="35">
                  <c:v>203.79999999999995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308608"/>
        <c:axId val="90310528"/>
      </c:scatterChart>
      <c:valAx>
        <c:axId val="90308608"/>
        <c:scaling>
          <c:orientation val="minMax"/>
          <c:max val="1"/>
          <c:min val="0.80000000000000004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l-GR" sz="2000" b="1" i="1" baseline="0"/>
                  <a:t>τ</a:t>
                </a:r>
                <a:r>
                  <a:rPr lang="en-US" sz="2000" b="1" i="1" baseline="0"/>
                  <a:t>/</a:t>
                </a:r>
                <a:r>
                  <a:rPr lang="el-GR" sz="2000" b="1" i="1" baseline="0"/>
                  <a:t>τ</a:t>
                </a:r>
                <a:r>
                  <a:rPr lang="en-US" sz="2000" b="1" i="1" baseline="-25000"/>
                  <a:t>max</a:t>
                </a:r>
                <a:endParaRPr lang="ru-RU" sz="2000" b="1" i="1" baseline="0"/>
              </a:p>
            </c:rich>
          </c:tx>
          <c:layout>
            <c:manualLayout>
              <c:xMode val="edge"/>
              <c:yMode val="edge"/>
              <c:x val="0.50072152777777779"/>
              <c:y val="0.9379699074074076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0310528"/>
        <c:crosses val="autoZero"/>
        <c:crossBetween val="midCat"/>
        <c:majorUnit val="0.050000000000000031"/>
        <c:minorUnit val="0.010000000000000007"/>
      </c:valAx>
      <c:valAx>
        <c:axId val="90310528"/>
        <c:scaling>
          <c:orientation val="minMax"/>
          <c:max val="300"/>
          <c:min val="5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1100" i="1"/>
                </a:pPr>
                <a:r>
                  <a:rPr lang="en-US" sz="2000" b="1" i="1" baseline="0"/>
                  <a:t>T, ºC</a:t>
                </a:r>
                <a:endParaRPr lang="ru-RU" sz="2000" b="1" i="1" baseline="0"/>
              </a:p>
            </c:rich>
          </c:tx>
          <c:layout>
            <c:manualLayout>
              <c:xMode val="edge"/>
              <c:yMode val="edge"/>
              <c:x val="0.0044280592093618428"/>
              <c:y val="0.063313920079516847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030860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9712751531058598"/>
          <c:y val="0.079440065618425995"/>
          <c:w val="0.47325174978127726"/>
          <c:h val="0.19647974816519223"/>
        </c:manualLayout>
      </c:layout>
      <c:overlay val="1"/>
      <c:spPr>
        <a:solidFill>
          <a:schemeClr val="bg1"/>
        </a:solidFill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400">
          <a:latin typeface="Times New Roman" pitchFamily="18" charset="0"/>
          <a:cs typeface="Times New Roman" pitchFamily="18" charset="0"/>
        </a:defRPr>
      </a:pPr>
      <a:endParaRPr lang="ru-RU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881211723534577"/>
          <c:y val="0.022907873756743462"/>
          <c:w val="0.80770416666666667"/>
          <c:h val="0.84358263888888885"/>
        </c:manualLayout>
      </c:layout>
      <c:scatterChart>
        <c:scatterStyle val="lineMarker"/>
        <c:varyColors val="0"/>
        <c:ser>
          <c:idx val="0"/>
          <c:order val="0"/>
          <c:tx>
            <c:strRef>
              <c:f xml:space="preserve">'Эксп данные 77-15 (2)'!$D$1</c:f>
              <c:strCache>
                <c:ptCount val="1"/>
                <c:pt idx="0">
                  <c:v>Номинал</c:v>
                </c:pt>
              </c:strCache>
            </c:strRef>
          </c:tx>
          <c:spPr>
            <a:ln w="254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 xml:space="preserve">'Эксп данные 77-15 (2)'!$B$3:$B$62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'Эксп данные 77-15 (2)'!$E$3:$E$62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50.300000000000004</c:v>
                </c:pt>
                <c:pt idx="34">
                  <c:v>50.4</c:v>
                </c:pt>
                <c:pt idx="35">
                  <c:v>50.5</c:v>
                </c:pt>
                <c:pt idx="36">
                  <c:v>50.70000000000001</c:v>
                </c:pt>
                <c:pt idx="37">
                  <c:v>50.800000000000004</c:v>
                </c:pt>
                <c:pt idx="38">
                  <c:v>51</c:v>
                </c:pt>
                <c:pt idx="39">
                  <c:v>51.20000000000001</c:v>
                </c:pt>
                <c:pt idx="40">
                  <c:v>51.5</c:v>
                </c:pt>
                <c:pt idx="41">
                  <c:v>51.70000000000001</c:v>
                </c:pt>
                <c:pt idx="42">
                  <c:v>52.100000000000023</c:v>
                </c:pt>
                <c:pt idx="43">
                  <c:v>52.4</c:v>
                </c:pt>
                <c:pt idx="44">
                  <c:v>52.9</c:v>
                </c:pt>
                <c:pt idx="45">
                  <c:v>53.4</c:v>
                </c:pt>
                <c:pt idx="46">
                  <c:v>54</c:v>
                </c:pt>
                <c:pt idx="47">
                  <c:v>54.70000000000001</c:v>
                </c:pt>
                <c:pt idx="48">
                  <c:v>55.4</c:v>
                </c:pt>
                <c:pt idx="49">
                  <c:v>56.4</c:v>
                </c:pt>
                <c:pt idx="50">
                  <c:v>57.5</c:v>
                </c:pt>
                <c:pt idx="51">
                  <c:v>58.9</c:v>
                </c:pt>
                <c:pt idx="52">
                  <c:v>60.70000000000001</c:v>
                </c:pt>
                <c:pt idx="53">
                  <c:v>63</c:v>
                </c:pt>
                <c:pt idx="54">
                  <c:v>66.399999999999977</c:v>
                </c:pt>
                <c:pt idx="55">
                  <c:v>71.100000000000009</c:v>
                </c:pt>
                <c:pt idx="56">
                  <c:v>77.600000000000009</c:v>
                </c:pt>
                <c:pt idx="57">
                  <c:v>86.5</c:v>
                </c:pt>
                <c:pt idx="58">
                  <c:v>97.600000000000009</c:v>
                </c:pt>
                <c:pt idx="59">
                  <c:v>104.39999999999999</c:v>
                </c:pt>
              </c:numCache>
            </c:numRef>
          </c:yVal>
          <c:smooth val="0"/>
        </c:ser>
        <c:ser>
          <c:idx val="3"/>
          <c:order val="1"/>
          <c:tx>
            <c:v>Эксперимент</c:v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'Эксп данные 77-15 (2)'!$B$3:$B$62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'Эксп данные 77-15 (2)'!$N$3:$N$62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50.100000000000023</c:v>
                </c:pt>
                <c:pt idx="22">
                  <c:v>50.100000000000023</c:v>
                </c:pt>
                <c:pt idx="23">
                  <c:v>50.100000000000023</c:v>
                </c:pt>
                <c:pt idx="24">
                  <c:v>50.20000000000001</c:v>
                </c:pt>
                <c:pt idx="25">
                  <c:v>50.20000000000001</c:v>
                </c:pt>
                <c:pt idx="26">
                  <c:v>50.300000000000004</c:v>
                </c:pt>
                <c:pt idx="27">
                  <c:v>50.4</c:v>
                </c:pt>
                <c:pt idx="28">
                  <c:v>50.5</c:v>
                </c:pt>
                <c:pt idx="29">
                  <c:v>50.600000000000023</c:v>
                </c:pt>
                <c:pt idx="30">
                  <c:v>50.70000000000001</c:v>
                </c:pt>
                <c:pt idx="31">
                  <c:v>50.9</c:v>
                </c:pt>
                <c:pt idx="32">
                  <c:v>51.20000000000001</c:v>
                </c:pt>
                <c:pt idx="33">
                  <c:v>51.4</c:v>
                </c:pt>
                <c:pt idx="34">
                  <c:v>51.70000000000001</c:v>
                </c:pt>
                <c:pt idx="35">
                  <c:v>52.100000000000023</c:v>
                </c:pt>
                <c:pt idx="36">
                  <c:v>52.5</c:v>
                </c:pt>
                <c:pt idx="37">
                  <c:v>53</c:v>
                </c:pt>
                <c:pt idx="38">
                  <c:v>53.5</c:v>
                </c:pt>
                <c:pt idx="39">
                  <c:v>54.20000000000001</c:v>
                </c:pt>
                <c:pt idx="40">
                  <c:v>54.9</c:v>
                </c:pt>
                <c:pt idx="41">
                  <c:v>55.800000000000004</c:v>
                </c:pt>
                <c:pt idx="42">
                  <c:v>56.800000000000004</c:v>
                </c:pt>
                <c:pt idx="43">
                  <c:v>57.9</c:v>
                </c:pt>
                <c:pt idx="44">
                  <c:v>59.100000000000023</c:v>
                </c:pt>
                <c:pt idx="45">
                  <c:v>60.600000000000023</c:v>
                </c:pt>
                <c:pt idx="46">
                  <c:v>62.20000000000001</c:v>
                </c:pt>
                <c:pt idx="47">
                  <c:v>64.100000000000009</c:v>
                </c:pt>
                <c:pt idx="48">
                  <c:v>66.300000000000011</c:v>
                </c:pt>
                <c:pt idx="49">
                  <c:v>69.399999999999977</c:v>
                </c:pt>
                <c:pt idx="50">
                  <c:v>74.100000000000009</c:v>
                </c:pt>
                <c:pt idx="51">
                  <c:v>82.2</c:v>
                </c:pt>
                <c:pt idx="52">
                  <c:v>96.899999999999977</c:v>
                </c:pt>
                <c:pt idx="53">
                  <c:v>118.89999999999999</c:v>
                </c:pt>
                <c:pt idx="54">
                  <c:v>146.10000000000002</c:v>
                </c:pt>
                <c:pt idx="55">
                  <c:v>176.2</c:v>
                </c:pt>
                <c:pt idx="56">
                  <c:v>207.10000000000002</c:v>
                </c:pt>
                <c:pt idx="57">
                  <c:v>237.10000000000002</c:v>
                </c:pt>
                <c:pt idx="58">
                  <c:v>265.5</c:v>
                </c:pt>
                <c:pt idx="59">
                  <c:v>279.2999999999995</c:v>
                </c:pt>
              </c:numCache>
            </c:numRef>
          </c:yVal>
          <c:smooth val="0"/>
        </c:ser>
        <c:ser>
          <c:idx val="7"/>
          <c:order val="2"/>
          <c:tx>
            <c:strRef>
              <c:f xml:space="preserve">'Эксп данные 77-15 (2)'!$Y$1</c:f>
              <c:strCache>
                <c:ptCount val="1"/>
                <c:pt idx="0">
                  <c:v xml:space="preserve">Деградация на 10%</c:v>
                </c:pt>
              </c:strCache>
            </c:strRef>
          </c:tx>
          <c:spPr>
            <a:ln w="25400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 xml:space="preserve">'Эксп данные 77-15 (2)'!$B$3:$B$62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'Эксп данные 77-15 (2)'!$Z$3:$Z$62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50.100000000000023</c:v>
                </c:pt>
                <c:pt idx="23">
                  <c:v>50.100000000000023</c:v>
                </c:pt>
                <c:pt idx="24">
                  <c:v>50.100000000000023</c:v>
                </c:pt>
                <c:pt idx="25">
                  <c:v>50.20000000000001</c:v>
                </c:pt>
                <c:pt idx="26">
                  <c:v>50.20000000000001</c:v>
                </c:pt>
                <c:pt idx="27">
                  <c:v>50.300000000000004</c:v>
                </c:pt>
                <c:pt idx="28">
                  <c:v>50.4</c:v>
                </c:pt>
                <c:pt idx="29">
                  <c:v>50.5</c:v>
                </c:pt>
                <c:pt idx="30">
                  <c:v>50.600000000000023</c:v>
                </c:pt>
                <c:pt idx="31">
                  <c:v>50.800000000000004</c:v>
                </c:pt>
                <c:pt idx="32">
                  <c:v>51</c:v>
                </c:pt>
                <c:pt idx="33">
                  <c:v>51.20000000000001</c:v>
                </c:pt>
                <c:pt idx="34">
                  <c:v>51.5</c:v>
                </c:pt>
                <c:pt idx="35">
                  <c:v>51.800000000000004</c:v>
                </c:pt>
                <c:pt idx="36">
                  <c:v>52.100000000000023</c:v>
                </c:pt>
                <c:pt idx="37">
                  <c:v>52.5</c:v>
                </c:pt>
                <c:pt idx="38">
                  <c:v>53</c:v>
                </c:pt>
                <c:pt idx="39">
                  <c:v>53.600000000000023</c:v>
                </c:pt>
                <c:pt idx="40">
                  <c:v>54.20000000000001</c:v>
                </c:pt>
                <c:pt idx="41">
                  <c:v>54.9</c:v>
                </c:pt>
                <c:pt idx="42">
                  <c:v>55.800000000000004</c:v>
                </c:pt>
                <c:pt idx="43">
                  <c:v>56.70000000000001</c:v>
                </c:pt>
                <c:pt idx="44">
                  <c:v>57.800000000000004</c:v>
                </c:pt>
                <c:pt idx="45">
                  <c:v>59</c:v>
                </c:pt>
                <c:pt idx="46">
                  <c:v>60.300000000000004</c:v>
                </c:pt>
                <c:pt idx="47">
                  <c:v>61.9</c:v>
                </c:pt>
                <c:pt idx="48">
                  <c:v>63.800000000000004</c:v>
                </c:pt>
                <c:pt idx="49">
                  <c:v>66.300000000000011</c:v>
                </c:pt>
                <c:pt idx="50">
                  <c:v>70.399999999999977</c:v>
                </c:pt>
                <c:pt idx="51">
                  <c:v>78.399999999999977</c:v>
                </c:pt>
                <c:pt idx="52">
                  <c:v>94.7</c:v>
                </c:pt>
                <c:pt idx="53">
                  <c:v>120</c:v>
                </c:pt>
                <c:pt idx="54">
                  <c:v>150.4</c:v>
                </c:pt>
                <c:pt idx="55">
                  <c:v>182.60000000000002</c:v>
                </c:pt>
                <c:pt idx="56">
                  <c:v>214.20000000000005</c:v>
                </c:pt>
                <c:pt idx="57">
                  <c:v>243.60000000000002</c:v>
                </c:pt>
                <c:pt idx="58">
                  <c:v>270</c:v>
                </c:pt>
                <c:pt idx="59">
                  <c:v>292.2999999999995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77792"/>
        <c:axId val="47470080"/>
      </c:scatterChart>
      <c:valAx>
        <c:axId val="47377792"/>
        <c:scaling>
          <c:orientation val="minMax"/>
          <c:max val="1"/>
          <c:min val="0.80000000000000004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l-GR" sz="2000" b="1" i="1" baseline="0" dirty="0">
                    <a:effectLst/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b="1" i="1" baseline="0" dirty="0">
                    <a:effectLst/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l-GR" sz="2000" b="1" i="1" baseline="0" dirty="0">
                    <a:effectLst/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b="1" i="1" baseline="-25000" dirty="0">
                    <a:effectLst/>
                    <a:latin typeface="Times New Roman" pitchFamily="18" charset="0"/>
                    <a:cs typeface="Times New Roman" pitchFamily="18" charset="0"/>
                  </a:rPr>
                  <a:t>max</a:t>
                </a:r>
                <a:endParaRPr lang="ru-RU" sz="2000" dirty="0">
                  <a:effectLst/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out"/>
        <c:tickLblPos val="nextTo"/>
        <c:crossAx val="47470080"/>
        <c:crosses val="autoZero"/>
        <c:crossBetween val="midCat"/>
        <c:majorUnit val="0.050000000000000031"/>
        <c:minorUnit val="0.010000000000000007"/>
      </c:valAx>
      <c:valAx>
        <c:axId val="47470080"/>
        <c:scaling>
          <c:orientation val="minMax"/>
          <c:max val="300"/>
          <c:min val="5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 b="1" i="1" baseline="0">
                    <a:effectLst/>
                    <a:latin typeface="Times New Roman" pitchFamily="18" charset="0"/>
                    <a:cs typeface="Times New Roman" pitchFamily="18" charset="0"/>
                  </a:rPr>
                  <a:t>T, </a:t>
                </a:r>
                <a:r>
                  <a:rPr lang="en-US" sz="2000" b="1" i="1" baseline="0">
                    <a:effectLst/>
                    <a:latin typeface="Times New Roman"/>
                    <a:cs typeface="Times New Roman"/>
                  </a:rPr>
                  <a:t>˚C</a:t>
                </a:r>
                <a:endParaRPr lang="ru-RU" sz="2000">
                  <a:effectLst/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>
            <c:manualLayout>
              <c:xMode val="edge"/>
              <c:yMode val="edge"/>
              <c:x val="0.0062555555555555559"/>
              <c:y val="0.053894642857143064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4737779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19990529308836433"/>
          <c:y val="0.083545005507659531"/>
          <c:w val="0.45905208333333336"/>
          <c:h val="0.18713842592592594"/>
        </c:manualLayout>
      </c:layout>
      <c:overlay val="1"/>
      <c:spPr>
        <a:solidFill>
          <a:schemeClr val="bg1"/>
        </a:solidFill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400">
          <a:latin typeface="Times New Roman" pitchFamily="18" charset="0"/>
          <a:cs typeface="Times New Roman" pitchFamily="18" charset="0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8425196850394"/>
          <c:y val="0.030367744063324584"/>
          <c:w val="0.81336548556430444"/>
          <c:h val="0.82627345353268922"/>
        </c:manualLayout>
      </c:layout>
      <c:scatterChart>
        <c:scatterStyle val="lineMarker"/>
        <c:varyColors val="0"/>
        <c:ser>
          <c:idx val="0"/>
          <c:order val="0"/>
          <c:tx>
            <c:strRef>
              <c:f xml:space="preserve">'Всё 60-30'!$D$2</c:f>
              <c:strCache>
                <c:ptCount val="1"/>
                <c:pt idx="0">
                  <c:v>Номинал</c:v>
                </c:pt>
              </c:strCache>
            </c:strRef>
          </c:tx>
          <c:spPr>
            <a:ln w="28575">
              <a:solidFill>
                <a:sysClr val="windowText" lastClr="000000"/>
              </a:solidFill>
            </a:ln>
          </c:spPr>
          <c:marker>
            <c:symbol val="none"/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60-30'!$D$3:$D$38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50.100000000000023</c:v>
                </c:pt>
                <c:pt idx="15">
                  <c:v>50.100000000000023</c:v>
                </c:pt>
                <c:pt idx="16">
                  <c:v>50.20000000000001</c:v>
                </c:pt>
                <c:pt idx="17">
                  <c:v>50.300000000000004</c:v>
                </c:pt>
                <c:pt idx="18">
                  <c:v>50.5</c:v>
                </c:pt>
                <c:pt idx="19">
                  <c:v>50.70000000000001</c:v>
                </c:pt>
                <c:pt idx="20">
                  <c:v>50.9</c:v>
                </c:pt>
                <c:pt idx="21">
                  <c:v>51.300000000000004</c:v>
                </c:pt>
                <c:pt idx="22">
                  <c:v>51.70000000000001</c:v>
                </c:pt>
                <c:pt idx="23">
                  <c:v>52.300000000000004</c:v>
                </c:pt>
                <c:pt idx="24">
                  <c:v>53.100000000000023</c:v>
                </c:pt>
                <c:pt idx="25">
                  <c:v>54</c:v>
                </c:pt>
                <c:pt idx="26">
                  <c:v>55.100000000000023</c:v>
                </c:pt>
                <c:pt idx="27">
                  <c:v>56.600000000000023</c:v>
                </c:pt>
                <c:pt idx="28">
                  <c:v>58.300000000000004</c:v>
                </c:pt>
                <c:pt idx="29">
                  <c:v>60.5</c:v>
                </c:pt>
                <c:pt idx="30">
                  <c:v>63.100000000000023</c:v>
                </c:pt>
                <c:pt idx="31">
                  <c:v>66.399999999999977</c:v>
                </c:pt>
                <c:pt idx="32">
                  <c:v>70.800000000000011</c:v>
                </c:pt>
                <c:pt idx="33">
                  <c:v>77.600000000000009</c:v>
                </c:pt>
                <c:pt idx="34">
                  <c:v>90.300000000000011</c:v>
                </c:pt>
                <c:pt idx="35">
                  <c:v>108.10000000000001</c:v>
                </c:pt>
              </c:numCache>
            </c:numRef>
          </c:yVal>
          <c:smooth val="0"/>
        </c:ser>
        <c:ser>
          <c:idx val="2"/>
          <c:order val="1"/>
          <c:tx>
            <c:strRef>
              <c:f xml:space="preserve">'Всё 60-30'!$M$2</c:f>
              <c:strCache>
                <c:ptCount val="1"/>
                <c:pt idx="0">
                  <c:v>λ+10%</c:v>
                </c:pt>
              </c:strCache>
            </c:strRef>
          </c:tx>
          <c:spPr>
            <a:ln w="28575">
              <a:solidFill>
                <a:sysClr val="windowText" lastClr="000000"/>
              </a:solidFill>
              <a:prstDash val="sysDot"/>
            </a:ln>
          </c:spPr>
          <c:marker>
            <c:symbol val="triangle"/>
            <c:size val="7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60-30'!$M$3:$M$38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50.100000000000023</c:v>
                </c:pt>
                <c:pt idx="14">
                  <c:v>50.100000000000023</c:v>
                </c:pt>
                <c:pt idx="15">
                  <c:v>50.20000000000001</c:v>
                </c:pt>
                <c:pt idx="16">
                  <c:v>50.20000000000001</c:v>
                </c:pt>
                <c:pt idx="17">
                  <c:v>50.4</c:v>
                </c:pt>
                <c:pt idx="18">
                  <c:v>50.5</c:v>
                </c:pt>
                <c:pt idx="19">
                  <c:v>50.800000000000004</c:v>
                </c:pt>
                <c:pt idx="20">
                  <c:v>51.100000000000023</c:v>
                </c:pt>
                <c:pt idx="21">
                  <c:v>51.5</c:v>
                </c:pt>
                <c:pt idx="22">
                  <c:v>52.100000000000023</c:v>
                </c:pt>
                <c:pt idx="23">
                  <c:v>52.70000000000001</c:v>
                </c:pt>
                <c:pt idx="24">
                  <c:v>53.600000000000023</c:v>
                </c:pt>
                <c:pt idx="25">
                  <c:v>54.70000000000001</c:v>
                </c:pt>
                <c:pt idx="26">
                  <c:v>56</c:v>
                </c:pt>
                <c:pt idx="27">
                  <c:v>57.600000000000023</c:v>
                </c:pt>
                <c:pt idx="28">
                  <c:v>59.5</c:v>
                </c:pt>
                <c:pt idx="29">
                  <c:v>61.9</c:v>
                </c:pt>
                <c:pt idx="30">
                  <c:v>64.800000000000011</c:v>
                </c:pt>
                <c:pt idx="31">
                  <c:v>68.399999999999977</c:v>
                </c:pt>
                <c:pt idx="32">
                  <c:v>73.399999999999977</c:v>
                </c:pt>
                <c:pt idx="33">
                  <c:v>81.399999999999977</c:v>
                </c:pt>
                <c:pt idx="34">
                  <c:v>96.800000000000011</c:v>
                </c:pt>
                <c:pt idx="35">
                  <c:v>117</c:v>
                </c:pt>
              </c:numCache>
            </c:numRef>
          </c:yVal>
          <c:smooth val="0"/>
        </c:ser>
        <c:ser>
          <c:idx val="3"/>
          <c:order val="2"/>
          <c:tx>
            <c:strRef>
              <c:f xml:space="preserve">'Всё 60-30'!$Q$2</c:f>
              <c:strCache>
                <c:ptCount val="1"/>
                <c:pt idx="0">
                  <c:v>Cp-10%</c:v>
                </c:pt>
              </c:strCache>
            </c:strRef>
          </c:tx>
          <c:spPr>
            <a:ln w="25400">
              <a:solidFill>
                <a:sysClr val="windowText" lastClr="000000"/>
              </a:solidFill>
              <a:prstDash val="sysDash"/>
            </a:ln>
          </c:spPr>
          <c:marker>
            <c:symbol val="circle"/>
            <c:size val="5"/>
            <c:spPr>
              <a:solidFill>
                <a:sysClr val="window" lastClr="ffffff"/>
              </a:solidFill>
              <a:ln w="15875">
                <a:solidFill>
                  <a:sysClr val="windowText" lastClr="000000"/>
                </a:solidFill>
              </a:ln>
            </c:spPr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60-30'!$Q$3:$Q$38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50.100000000000023</c:v>
                </c:pt>
                <c:pt idx="14">
                  <c:v>50.100000000000023</c:v>
                </c:pt>
                <c:pt idx="15">
                  <c:v>50.20000000000001</c:v>
                </c:pt>
                <c:pt idx="16">
                  <c:v>50.300000000000004</c:v>
                </c:pt>
                <c:pt idx="17">
                  <c:v>50.4</c:v>
                </c:pt>
                <c:pt idx="18">
                  <c:v>50.600000000000023</c:v>
                </c:pt>
                <c:pt idx="19">
                  <c:v>50.800000000000004</c:v>
                </c:pt>
                <c:pt idx="20">
                  <c:v>51.20000000000001</c:v>
                </c:pt>
                <c:pt idx="21">
                  <c:v>51.600000000000023</c:v>
                </c:pt>
                <c:pt idx="22">
                  <c:v>52.20000000000001</c:v>
                </c:pt>
                <c:pt idx="23">
                  <c:v>52.9</c:v>
                </c:pt>
                <c:pt idx="24">
                  <c:v>53.800000000000004</c:v>
                </c:pt>
                <c:pt idx="25">
                  <c:v>54.9</c:v>
                </c:pt>
                <c:pt idx="26">
                  <c:v>56.20000000000001</c:v>
                </c:pt>
                <c:pt idx="27">
                  <c:v>57.9</c:v>
                </c:pt>
                <c:pt idx="28">
                  <c:v>59.9</c:v>
                </c:pt>
                <c:pt idx="29">
                  <c:v>62.5</c:v>
                </c:pt>
                <c:pt idx="30">
                  <c:v>65.600000000000009</c:v>
                </c:pt>
                <c:pt idx="31">
                  <c:v>69.600000000000009</c:v>
                </c:pt>
                <c:pt idx="32">
                  <c:v>75.5</c:v>
                </c:pt>
                <c:pt idx="33">
                  <c:v>86.2</c:v>
                </c:pt>
                <c:pt idx="34">
                  <c:v>106.80000000000001</c:v>
                </c:pt>
                <c:pt idx="35">
                  <c:v>130.69999999999999</c:v>
                </c:pt>
              </c:numCache>
            </c:numRef>
          </c:yVal>
          <c:smooth val="0"/>
        </c:ser>
        <c:ser>
          <c:idx val="4"/>
          <c:order val="3"/>
          <c:tx>
            <c:strRef>
              <c:f xml:space="preserve">'Всё 60-30'!$U$2</c:f>
              <c:strCache>
                <c:ptCount val="1"/>
                <c:pt idx="0">
                  <c:v>ρ-10%</c:v>
                </c:pt>
              </c:strCache>
            </c:strRef>
          </c:tx>
          <c:spPr>
            <a:ln>
              <a:solidFill>
                <a:sysClr val="windowText" lastClr="000000"/>
              </a:solidFill>
            </a:ln>
          </c:spPr>
          <c:marker>
            <c:symbol val="diamond"/>
            <c:size val="7"/>
            <c:spPr>
              <a:solidFill>
                <a:sysClr val="window" lastClr="ffffff"/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60-30'!$U$3:$U$38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50.100000000000023</c:v>
                </c:pt>
                <c:pt idx="14">
                  <c:v>50.100000000000023</c:v>
                </c:pt>
                <c:pt idx="15">
                  <c:v>50.20000000000001</c:v>
                </c:pt>
                <c:pt idx="16">
                  <c:v>50.300000000000004</c:v>
                </c:pt>
                <c:pt idx="17">
                  <c:v>50.4</c:v>
                </c:pt>
                <c:pt idx="18">
                  <c:v>50.600000000000023</c:v>
                </c:pt>
                <c:pt idx="19">
                  <c:v>50.800000000000004</c:v>
                </c:pt>
                <c:pt idx="20">
                  <c:v>51.20000000000001</c:v>
                </c:pt>
                <c:pt idx="21">
                  <c:v>51.600000000000023</c:v>
                </c:pt>
                <c:pt idx="22">
                  <c:v>52.20000000000001</c:v>
                </c:pt>
                <c:pt idx="23">
                  <c:v>52.9</c:v>
                </c:pt>
                <c:pt idx="24">
                  <c:v>53.800000000000004</c:v>
                </c:pt>
                <c:pt idx="25">
                  <c:v>54.9</c:v>
                </c:pt>
                <c:pt idx="26">
                  <c:v>56.20000000000001</c:v>
                </c:pt>
                <c:pt idx="27">
                  <c:v>57.9</c:v>
                </c:pt>
                <c:pt idx="28">
                  <c:v>59.9</c:v>
                </c:pt>
                <c:pt idx="29">
                  <c:v>62.5</c:v>
                </c:pt>
                <c:pt idx="30">
                  <c:v>65.600000000000009</c:v>
                </c:pt>
                <c:pt idx="31">
                  <c:v>69.600000000000009</c:v>
                </c:pt>
                <c:pt idx="32">
                  <c:v>75.7</c:v>
                </c:pt>
                <c:pt idx="33">
                  <c:v>86.899999999999977</c:v>
                </c:pt>
                <c:pt idx="34">
                  <c:v>109</c:v>
                </c:pt>
                <c:pt idx="35">
                  <c:v>134.10000000000002</c:v>
                </c:pt>
              </c:numCache>
            </c:numRef>
          </c:yVal>
          <c:smooth val="0"/>
        </c:ser>
        <c:ser>
          <c:idx val="1"/>
          <c:order val="4"/>
          <c:tx>
            <c:strRef>
              <c:f xml:space="preserve">'Всё 60-30'!$I$2</c:f>
              <c:strCache>
                <c:ptCount val="1"/>
                <c:pt idx="0">
                  <c:v xml:space="preserve">λ+10% Cp-10% ρ-10%</c:v>
                </c:pt>
              </c:strCache>
            </c:strRef>
          </c:tx>
          <c:spPr>
            <a:ln w="19050">
              <a:solidFill>
                <a:sysClr val="windowText" lastClr="000000"/>
              </a:solidFill>
            </a:ln>
          </c:spPr>
          <c:marker>
            <c:symbol val="square"/>
            <c:size val="7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 xml:space="preserve">'Всё 60-30'!$B$3:$B$38</c:f>
              <c:numCache>
                <c:formatCode>General</c:formatCode>
                <c:ptCount val="36"/>
                <c:pt idx="0">
                  <c:v>0</c:v>
                </c:pt>
                <c:pt idx="1">
                  <c:v>2.8760425654299673E-2</c:v>
                </c:pt>
                <c:pt idx="2">
                  <c:v>5.7520851308599359E-2</c:v>
                </c:pt>
                <c:pt idx="3">
                  <c:v>8.6281276962899042E-2</c:v>
                </c:pt>
                <c:pt idx="4">
                  <c:v>0.11504170261719868</c:v>
                </c:pt>
                <c:pt idx="5">
                  <c:v>0.14380212827149841</c:v>
                </c:pt>
                <c:pt idx="6">
                  <c:v>0.17256255392579808</c:v>
                </c:pt>
                <c:pt idx="7">
                  <c:v>0.20132297958009776</c:v>
                </c:pt>
                <c:pt idx="8">
                  <c:v>0.23008340523439744</c:v>
                </c:pt>
                <c:pt idx="9">
                  <c:v>0.25884383088869711</c:v>
                </c:pt>
                <c:pt idx="10">
                  <c:v>0.28760425654299676</c:v>
                </c:pt>
                <c:pt idx="11">
                  <c:v>0.31636468219729696</c:v>
                </c:pt>
                <c:pt idx="12">
                  <c:v>0.34512510785159617</c:v>
                </c:pt>
                <c:pt idx="13">
                  <c:v>0.37388553350589626</c:v>
                </c:pt>
                <c:pt idx="14">
                  <c:v>0.4026459591601953</c:v>
                </c:pt>
                <c:pt idx="15">
                  <c:v>0.43140638481449572</c:v>
                </c:pt>
                <c:pt idx="16">
                  <c:v>0.46016681046879476</c:v>
                </c:pt>
                <c:pt idx="17">
                  <c:v>0.48892723612309458</c:v>
                </c:pt>
                <c:pt idx="18">
                  <c:v>0.51768766177739378</c:v>
                </c:pt>
                <c:pt idx="19">
                  <c:v>0.54644808743169393</c:v>
                </c:pt>
                <c:pt idx="20">
                  <c:v>0.57520851308599363</c:v>
                </c:pt>
                <c:pt idx="21">
                  <c:v>0.60396893874029334</c:v>
                </c:pt>
                <c:pt idx="22">
                  <c:v>0.63272936439459393</c:v>
                </c:pt>
                <c:pt idx="23">
                  <c:v>0.6614897900488933</c:v>
                </c:pt>
                <c:pt idx="24">
                  <c:v>0.69025021570319289</c:v>
                </c:pt>
                <c:pt idx="25">
                  <c:v>0.71901064135749204</c:v>
                </c:pt>
                <c:pt idx="26">
                  <c:v>0.74777106701179252</c:v>
                </c:pt>
                <c:pt idx="27">
                  <c:v>0.77653149266609234</c:v>
                </c:pt>
                <c:pt idx="28">
                  <c:v>0.80529191832039171</c:v>
                </c:pt>
                <c:pt idx="29">
                  <c:v>0.83405234397469052</c:v>
                </c:pt>
                <c:pt idx="30">
                  <c:v>0.86281276962899045</c:v>
                </c:pt>
                <c:pt idx="31">
                  <c:v>0.89157319528328971</c:v>
                </c:pt>
                <c:pt idx="32">
                  <c:v>0.92033362093758952</c:v>
                </c:pt>
                <c:pt idx="33">
                  <c:v>0.94909404659189034</c:v>
                </c:pt>
                <c:pt idx="34">
                  <c:v>0.97785447224619015</c:v>
                </c:pt>
                <c:pt idx="35">
                  <c:v>1</c:v>
                </c:pt>
              </c:numCache>
            </c:numRef>
          </c:xVal>
          <c:yVal>
            <c:numRef>
              <c:f xml:space="preserve">'Всё 60-30'!$I$3:$I$38</c:f>
              <c:numCache>
                <c:formatCode>General</c:formatCode>
                <c:ptCount val="3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50.100000000000023</c:v>
                </c:pt>
                <c:pt idx="12">
                  <c:v>50.100000000000023</c:v>
                </c:pt>
                <c:pt idx="13">
                  <c:v>50.20000000000001</c:v>
                </c:pt>
                <c:pt idx="14">
                  <c:v>50.20000000000001</c:v>
                </c:pt>
                <c:pt idx="15">
                  <c:v>50.4</c:v>
                </c:pt>
                <c:pt idx="16">
                  <c:v>50.5</c:v>
                </c:pt>
                <c:pt idx="17">
                  <c:v>50.800000000000004</c:v>
                </c:pt>
                <c:pt idx="18">
                  <c:v>51.100000000000023</c:v>
                </c:pt>
                <c:pt idx="19">
                  <c:v>51.600000000000023</c:v>
                </c:pt>
                <c:pt idx="20">
                  <c:v>52.20000000000001</c:v>
                </c:pt>
                <c:pt idx="21">
                  <c:v>52.9</c:v>
                </c:pt>
                <c:pt idx="22">
                  <c:v>53.9</c:v>
                </c:pt>
                <c:pt idx="23">
                  <c:v>55</c:v>
                </c:pt>
                <c:pt idx="24">
                  <c:v>56.5</c:v>
                </c:pt>
                <c:pt idx="25">
                  <c:v>58.300000000000004</c:v>
                </c:pt>
                <c:pt idx="26">
                  <c:v>60.4</c:v>
                </c:pt>
                <c:pt idx="27">
                  <c:v>63.100000000000023</c:v>
                </c:pt>
                <c:pt idx="28">
                  <c:v>66.2</c:v>
                </c:pt>
                <c:pt idx="29">
                  <c:v>70.100000000000009</c:v>
                </c:pt>
                <c:pt idx="30">
                  <c:v>75.2</c:v>
                </c:pt>
                <c:pt idx="31">
                  <c:v>83.300000000000011</c:v>
                </c:pt>
                <c:pt idx="32">
                  <c:v>99.5</c:v>
                </c:pt>
                <c:pt idx="33">
                  <c:v>129.30000000000001</c:v>
                </c:pt>
                <c:pt idx="34">
                  <c:v>169.4</c:v>
                </c:pt>
                <c:pt idx="35">
                  <c:v>203.79999999999995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000000"/>
        <c:axId val="90010752"/>
      </c:scatterChart>
      <c:valAx>
        <c:axId val="90000000"/>
        <c:scaling>
          <c:orientation val="minMax"/>
          <c:max val="1"/>
          <c:min val="0.80000000000000004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l-GR" sz="2000" b="1" i="1" baseline="0"/>
                  <a:t>τ</a:t>
                </a:r>
                <a:r>
                  <a:rPr lang="en-US" sz="2000" b="1" i="1" baseline="0"/>
                  <a:t>/</a:t>
                </a:r>
                <a:r>
                  <a:rPr lang="el-GR" sz="2000" b="1" i="1" baseline="0"/>
                  <a:t>τ</a:t>
                </a:r>
                <a:r>
                  <a:rPr lang="en-US" sz="2000" b="1" i="1" baseline="-25000"/>
                  <a:t>max</a:t>
                </a:r>
                <a:endParaRPr lang="ru-RU" sz="2000" b="1" i="1" baseline="0"/>
              </a:p>
            </c:rich>
          </c:tx>
          <c:layout>
            <c:manualLayout>
              <c:xMode val="edge"/>
              <c:yMode val="edge"/>
              <c:x val="0.48829466770206492"/>
              <c:y val="0.91484223834652689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0010752"/>
        <c:crosses val="autoZero"/>
        <c:crossBetween val="midCat"/>
        <c:majorUnit val="0.050000000000000003"/>
        <c:minorUnit val="0.010000000000000005"/>
      </c:valAx>
      <c:valAx>
        <c:axId val="90010752"/>
        <c:scaling>
          <c:orientation val="minMax"/>
          <c:max val="250"/>
          <c:min val="5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400" i="1"/>
                </a:pPr>
                <a:r>
                  <a:rPr lang="en-US" sz="2000" b="1" i="1" baseline="0"/>
                  <a:t>T, ºC</a:t>
                </a:r>
                <a:endParaRPr lang="ru-RU" sz="2000" b="1" i="1" baseline="0"/>
              </a:p>
            </c:rich>
          </c:tx>
          <c:layout>
            <c:manualLayout>
              <c:xMode val="edge"/>
              <c:yMode val="edge"/>
              <c:x val="0.0012165354330708666"/>
              <c:y val="0.065885080947092819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0000000"/>
        <c:crosses val="autoZero"/>
        <c:crossBetween val="midCat"/>
        <c:majorUnit val="50"/>
        <c:minorUnit val="10"/>
      </c:valAx>
    </c:plotArea>
    <c:legend>
      <c:legendPos val="r"/>
      <c:layout>
        <c:manualLayout>
          <c:xMode val="edge"/>
          <c:yMode val="edge"/>
          <c:x val="0.18351684164479451"/>
          <c:y val="0.07790482767385816"/>
          <c:w val="0.51091622922134683"/>
          <c:h val="0.28560885881577552"/>
        </c:manualLayout>
      </c:layout>
      <c:overlay val="1"/>
      <c:spPr>
        <a:solidFill>
          <a:sysClr val="window" lastClr="ffffff"/>
        </a:solidFill>
        <a:ln>
          <a:solidFill>
            <a:sysClr val="windowText" lastClr="000000"/>
          </a:solidFill>
        </a:ln>
      </c:spPr>
    </c:legend>
    <c:plotVisOnly val="1"/>
    <c:dispBlanksAs val="gap"/>
    <c:showDLblsOverMax val="0"/>
  </c:chart>
  <c:txPr>
    <a:bodyPr/>
    <a:lstStyle/>
    <a:p>
      <a:pPr>
        <a:defRPr sz="1400">
          <a:latin typeface="Times New Roman" pitchFamily="18" charset="0"/>
          <a:cs typeface="Times New Roman" pitchFamily="18" charset="0"/>
        </a:defRPr>
      </a:pPr>
      <a:endParaRPr lang="ru-RU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543205486411004"/>
          <c:y val="0.029441619135391481"/>
          <c:w val="0.82338514943696428"/>
          <c:h val="0.83969341705754175"/>
        </c:manualLayout>
      </c:layout>
      <c:scatterChart>
        <c:scatterStyle val="lineMarker"/>
        <c:varyColors val="0"/>
        <c:ser>
          <c:idx val="0"/>
          <c:order val="0"/>
          <c:tx>
            <c:v>номинал</c:v>
          </c:tx>
          <c:spPr>
            <a:ln w="127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 xml:space="preserve">'УП-ЦТ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'УП-ЦТ 77-15'!$E$3:$E$62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50.300000000000004</c:v>
                </c:pt>
                <c:pt idx="34">
                  <c:v>50.4</c:v>
                </c:pt>
                <c:pt idx="35">
                  <c:v>50.5</c:v>
                </c:pt>
                <c:pt idx="36">
                  <c:v>50.70000000000001</c:v>
                </c:pt>
                <c:pt idx="37">
                  <c:v>50.800000000000004</c:v>
                </c:pt>
                <c:pt idx="38">
                  <c:v>51</c:v>
                </c:pt>
                <c:pt idx="39">
                  <c:v>51.20000000000001</c:v>
                </c:pt>
                <c:pt idx="40">
                  <c:v>51.5</c:v>
                </c:pt>
                <c:pt idx="41">
                  <c:v>51.70000000000001</c:v>
                </c:pt>
                <c:pt idx="42">
                  <c:v>52.100000000000023</c:v>
                </c:pt>
                <c:pt idx="43">
                  <c:v>52.4</c:v>
                </c:pt>
                <c:pt idx="44">
                  <c:v>52.9</c:v>
                </c:pt>
                <c:pt idx="45">
                  <c:v>53.4</c:v>
                </c:pt>
                <c:pt idx="46">
                  <c:v>54</c:v>
                </c:pt>
                <c:pt idx="47">
                  <c:v>54.70000000000001</c:v>
                </c:pt>
                <c:pt idx="48">
                  <c:v>55.4</c:v>
                </c:pt>
                <c:pt idx="49">
                  <c:v>56.4</c:v>
                </c:pt>
                <c:pt idx="50">
                  <c:v>57.5</c:v>
                </c:pt>
                <c:pt idx="51">
                  <c:v>58.9</c:v>
                </c:pt>
                <c:pt idx="52">
                  <c:v>60.70000000000001</c:v>
                </c:pt>
                <c:pt idx="53">
                  <c:v>63</c:v>
                </c:pt>
                <c:pt idx="54">
                  <c:v>66.399999999999977</c:v>
                </c:pt>
                <c:pt idx="55">
                  <c:v>71.100000000000009</c:v>
                </c:pt>
                <c:pt idx="56">
                  <c:v>77.600000000000009</c:v>
                </c:pt>
                <c:pt idx="57">
                  <c:v>86.5</c:v>
                </c:pt>
                <c:pt idx="58">
                  <c:v>97.600000000000009</c:v>
                </c:pt>
                <c:pt idx="59">
                  <c:v>104.39999999999999</c:v>
                </c:pt>
              </c:numCache>
            </c:numRef>
          </c:yVal>
          <c:smooth val="0"/>
        </c:ser>
        <c:ser>
          <c:idx val="3"/>
          <c:order val="1"/>
          <c:tx>
            <c:strRef>
              <c:f xml:space="preserve">'УП-ЦТ 77-15'!$F$1</c:f>
              <c:strCache>
                <c:ptCount val="1"/>
                <c:pt idx="0">
                  <c:v>λ+10%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sysDot"/>
            </a:ln>
          </c:spPr>
          <c:marker>
            <c:symbol val="triangle"/>
            <c:size val="7"/>
            <c:spPr>
              <a:solidFill>
                <a:sysClr val="windowText" lastClr="000000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'УП-ЦТ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'УП-ЦТ 77-15'!$H$3:$H$62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50.100000000000023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50.20000000000001</c:v>
                </c:pt>
                <c:pt idx="30">
                  <c:v>50.20000000000001</c:v>
                </c:pt>
                <c:pt idx="31">
                  <c:v>50.300000000000004</c:v>
                </c:pt>
                <c:pt idx="32">
                  <c:v>50.4</c:v>
                </c:pt>
                <c:pt idx="33">
                  <c:v>50.5</c:v>
                </c:pt>
                <c:pt idx="34">
                  <c:v>50.600000000000023</c:v>
                </c:pt>
                <c:pt idx="35">
                  <c:v>50.70000000000001</c:v>
                </c:pt>
                <c:pt idx="36">
                  <c:v>50.9</c:v>
                </c:pt>
                <c:pt idx="37">
                  <c:v>51.100000000000023</c:v>
                </c:pt>
                <c:pt idx="38">
                  <c:v>51.300000000000004</c:v>
                </c:pt>
                <c:pt idx="39">
                  <c:v>51.600000000000023</c:v>
                </c:pt>
                <c:pt idx="40">
                  <c:v>51.9</c:v>
                </c:pt>
                <c:pt idx="41">
                  <c:v>52.20000000000001</c:v>
                </c:pt>
                <c:pt idx="42">
                  <c:v>52.600000000000023</c:v>
                </c:pt>
                <c:pt idx="43">
                  <c:v>53.100000000000023</c:v>
                </c:pt>
                <c:pt idx="44">
                  <c:v>53.600000000000023</c:v>
                </c:pt>
                <c:pt idx="45">
                  <c:v>54.20000000000001</c:v>
                </c:pt>
                <c:pt idx="46">
                  <c:v>54.9</c:v>
                </c:pt>
                <c:pt idx="47">
                  <c:v>55.70000000000001</c:v>
                </c:pt>
                <c:pt idx="48">
                  <c:v>56.70000000000001</c:v>
                </c:pt>
                <c:pt idx="49">
                  <c:v>57.800000000000004</c:v>
                </c:pt>
                <c:pt idx="50">
                  <c:v>59.100000000000023</c:v>
                </c:pt>
                <c:pt idx="51">
                  <c:v>60.70000000000001</c:v>
                </c:pt>
                <c:pt idx="52">
                  <c:v>62.70000000000001</c:v>
                </c:pt>
                <c:pt idx="53">
                  <c:v>65.5</c:v>
                </c:pt>
                <c:pt idx="54">
                  <c:v>69.399999999999977</c:v>
                </c:pt>
                <c:pt idx="55">
                  <c:v>75</c:v>
                </c:pt>
                <c:pt idx="56">
                  <c:v>82.899999999999977</c:v>
                </c:pt>
                <c:pt idx="57">
                  <c:v>93.5</c:v>
                </c:pt>
                <c:pt idx="58">
                  <c:v>106.5</c:v>
                </c:pt>
                <c:pt idx="59">
                  <c:v>114.19999999999999</c:v>
                </c:pt>
              </c:numCache>
            </c:numRef>
          </c:yVal>
          <c:smooth val="0"/>
        </c:ser>
        <c:ser>
          <c:idx val="4"/>
          <c:order val="2"/>
          <c:tx>
            <c:strRef>
              <c:f xml:space="preserve">'УП-ЦТ 77-15'!$I$1</c:f>
              <c:strCache>
                <c:ptCount val="1"/>
                <c:pt idx="0">
                  <c:v>Cp-10%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sysDash"/>
            </a:ln>
          </c:spPr>
          <c:marker>
            <c:symbol val="circle"/>
            <c:size val="7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'УП-ЦТ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'УП-ЦТ 77-15'!$K$3:$K$62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50.100000000000023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50.20000000000001</c:v>
                </c:pt>
                <c:pt idx="30">
                  <c:v>50.20000000000001</c:v>
                </c:pt>
                <c:pt idx="31">
                  <c:v>50.300000000000004</c:v>
                </c:pt>
                <c:pt idx="32">
                  <c:v>50.4</c:v>
                </c:pt>
                <c:pt idx="33">
                  <c:v>50.5</c:v>
                </c:pt>
                <c:pt idx="34">
                  <c:v>50.600000000000023</c:v>
                </c:pt>
                <c:pt idx="35">
                  <c:v>50.800000000000004</c:v>
                </c:pt>
                <c:pt idx="36">
                  <c:v>50.9</c:v>
                </c:pt>
                <c:pt idx="37">
                  <c:v>51.100000000000023</c:v>
                </c:pt>
                <c:pt idx="38">
                  <c:v>51.4</c:v>
                </c:pt>
                <c:pt idx="39">
                  <c:v>51.600000000000023</c:v>
                </c:pt>
                <c:pt idx="40">
                  <c:v>52</c:v>
                </c:pt>
                <c:pt idx="41">
                  <c:v>52.300000000000004</c:v>
                </c:pt>
                <c:pt idx="42">
                  <c:v>52.800000000000004</c:v>
                </c:pt>
                <c:pt idx="43">
                  <c:v>53.20000000000001</c:v>
                </c:pt>
                <c:pt idx="44">
                  <c:v>53.800000000000004</c:v>
                </c:pt>
                <c:pt idx="45">
                  <c:v>54.5</c:v>
                </c:pt>
                <c:pt idx="46">
                  <c:v>55.20000000000001</c:v>
                </c:pt>
                <c:pt idx="47">
                  <c:v>56.100000000000023</c:v>
                </c:pt>
                <c:pt idx="48">
                  <c:v>57.100000000000023</c:v>
                </c:pt>
                <c:pt idx="49">
                  <c:v>58.20000000000001</c:v>
                </c:pt>
                <c:pt idx="50">
                  <c:v>59.70000000000001</c:v>
                </c:pt>
                <c:pt idx="51">
                  <c:v>61.5</c:v>
                </c:pt>
                <c:pt idx="52">
                  <c:v>63.9</c:v>
                </c:pt>
                <c:pt idx="53">
                  <c:v>67.300000000000011</c:v>
                </c:pt>
                <c:pt idx="54">
                  <c:v>72.5</c:v>
                </c:pt>
                <c:pt idx="55">
                  <c:v>80.2</c:v>
                </c:pt>
                <c:pt idx="56">
                  <c:v>91.2</c:v>
                </c:pt>
                <c:pt idx="57">
                  <c:v>105.30000000000001</c:v>
                </c:pt>
                <c:pt idx="58">
                  <c:v>121.60000000000001</c:v>
                </c:pt>
                <c:pt idx="59">
                  <c:v>130.60000000000002</c:v>
                </c:pt>
              </c:numCache>
            </c:numRef>
          </c:yVal>
          <c:smooth val="0"/>
        </c:ser>
        <c:ser>
          <c:idx val="5"/>
          <c:order val="3"/>
          <c:tx>
            <c:strRef>
              <c:f xml:space="preserve">'УП-ЦТ 77-15'!$L$1</c:f>
              <c:strCache>
                <c:ptCount val="1"/>
                <c:pt idx="0">
                  <c:v>ρ-10%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marker>
            <c:symbol val="diamond"/>
            <c:size val="7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'УП-ЦТ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'УП-ЦТ 77-15'!$N$3:$N$62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50.100000000000023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50.20000000000001</c:v>
                </c:pt>
                <c:pt idx="30">
                  <c:v>50.20000000000001</c:v>
                </c:pt>
                <c:pt idx="31">
                  <c:v>50.300000000000004</c:v>
                </c:pt>
                <c:pt idx="32">
                  <c:v>50.4</c:v>
                </c:pt>
                <c:pt idx="33">
                  <c:v>50.5</c:v>
                </c:pt>
                <c:pt idx="34">
                  <c:v>50.600000000000023</c:v>
                </c:pt>
                <c:pt idx="35">
                  <c:v>50.800000000000004</c:v>
                </c:pt>
                <c:pt idx="36">
                  <c:v>50.9</c:v>
                </c:pt>
                <c:pt idx="37">
                  <c:v>51.100000000000023</c:v>
                </c:pt>
                <c:pt idx="38">
                  <c:v>51.4</c:v>
                </c:pt>
                <c:pt idx="39">
                  <c:v>51.600000000000023</c:v>
                </c:pt>
                <c:pt idx="40">
                  <c:v>52</c:v>
                </c:pt>
                <c:pt idx="41">
                  <c:v>52.300000000000004</c:v>
                </c:pt>
                <c:pt idx="42">
                  <c:v>52.800000000000004</c:v>
                </c:pt>
                <c:pt idx="43">
                  <c:v>53.20000000000001</c:v>
                </c:pt>
                <c:pt idx="44">
                  <c:v>53.800000000000004</c:v>
                </c:pt>
                <c:pt idx="45">
                  <c:v>54.5</c:v>
                </c:pt>
                <c:pt idx="46">
                  <c:v>55.20000000000001</c:v>
                </c:pt>
                <c:pt idx="47">
                  <c:v>56.100000000000023</c:v>
                </c:pt>
                <c:pt idx="48">
                  <c:v>57.100000000000023</c:v>
                </c:pt>
                <c:pt idx="49">
                  <c:v>58.300000000000004</c:v>
                </c:pt>
                <c:pt idx="50">
                  <c:v>59.9</c:v>
                </c:pt>
                <c:pt idx="51">
                  <c:v>62</c:v>
                </c:pt>
                <c:pt idx="52">
                  <c:v>65.399999999999977</c:v>
                </c:pt>
                <c:pt idx="53">
                  <c:v>70.899999999999977</c:v>
                </c:pt>
                <c:pt idx="54">
                  <c:v>80.100000000000009</c:v>
                </c:pt>
                <c:pt idx="55">
                  <c:v>94.2</c:v>
                </c:pt>
                <c:pt idx="56">
                  <c:v>112.5</c:v>
                </c:pt>
                <c:pt idx="57">
                  <c:v>132.9</c:v>
                </c:pt>
                <c:pt idx="58">
                  <c:v>153.80000000000001</c:v>
                </c:pt>
                <c:pt idx="59">
                  <c:v>173.2</c:v>
                </c:pt>
              </c:numCache>
            </c:numRef>
          </c:yVal>
          <c:smooth val="0"/>
        </c:ser>
        <c:ser>
          <c:idx val="1"/>
          <c:order val="4"/>
          <c:tx>
            <c:strRef>
              <c:f xml:space="preserve">'УП-ЦТ 77-15'!$O$1</c:f>
              <c:strCache>
                <c:ptCount val="1"/>
                <c:pt idx="0">
                  <c:v xml:space="preserve">λ+10% Cp-10% ρ-10%</c:v>
                </c:pt>
              </c:strCache>
            </c:strRef>
          </c:tx>
          <c:spPr>
            <a:ln w="12700">
              <a:solidFill>
                <a:sysClr val="windowText" lastClr="000000"/>
              </a:solidFill>
            </a:ln>
          </c:spPr>
          <c:marker>
            <c:symbol val="square"/>
            <c:size val="7"/>
            <c:spPr>
              <a:solidFill>
                <a:sysClr val="windowText" lastClr="000000"/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 xml:space="preserve">'УП-ЦТ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5.1255766273705747E-2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0.11959678797198051</c:v>
                </c:pt>
                <c:pt idx="8">
                  <c:v>0.13668204339654877</c:v>
                </c:pt>
                <c:pt idx="9">
                  <c:v>0.15376729882111781</c:v>
                </c:pt>
                <c:pt idx="10">
                  <c:v>0.17085255424568566</c:v>
                </c:pt>
                <c:pt idx="11">
                  <c:v>0.18793780967025478</c:v>
                </c:pt>
                <c:pt idx="12">
                  <c:v>0.20502306509482321</c:v>
                </c:pt>
                <c:pt idx="13">
                  <c:v>0.22210832051939194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0.27336408679309782</c:v>
                </c:pt>
                <c:pt idx="17">
                  <c:v>0.29044934221766638</c:v>
                </c:pt>
                <c:pt idx="18">
                  <c:v>0.30753459764223517</c:v>
                </c:pt>
                <c:pt idx="19">
                  <c:v>0.32461985306680385</c:v>
                </c:pt>
                <c:pt idx="20">
                  <c:v>0.34170510849137137</c:v>
                </c:pt>
                <c:pt idx="21">
                  <c:v>0.35879036391594127</c:v>
                </c:pt>
                <c:pt idx="22">
                  <c:v>0.37587561934051</c:v>
                </c:pt>
                <c:pt idx="23">
                  <c:v>0.39296087476507868</c:v>
                </c:pt>
                <c:pt idx="24">
                  <c:v>0.41004613018964686</c:v>
                </c:pt>
                <c:pt idx="25">
                  <c:v>0.42713138561421532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0.47838715188792114</c:v>
                </c:pt>
                <c:pt idx="29">
                  <c:v>0.49547240731249043</c:v>
                </c:pt>
                <c:pt idx="30">
                  <c:v>0.51255766273705683</c:v>
                </c:pt>
                <c:pt idx="31">
                  <c:v>0.52964291816162645</c:v>
                </c:pt>
                <c:pt idx="32">
                  <c:v>0.54672817358619641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0.59798393985989995</c:v>
                </c:pt>
                <c:pt idx="36">
                  <c:v>0.61506919528446968</c:v>
                </c:pt>
                <c:pt idx="37">
                  <c:v>0.63215445070903864</c:v>
                </c:pt>
                <c:pt idx="38">
                  <c:v>0.64923970613360771</c:v>
                </c:pt>
                <c:pt idx="39">
                  <c:v>0.66632496155817689</c:v>
                </c:pt>
                <c:pt idx="40">
                  <c:v>0.68341021698274351</c:v>
                </c:pt>
                <c:pt idx="41">
                  <c:v>0.70049547240731336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0.7517512386810199</c:v>
                </c:pt>
                <c:pt idx="45">
                  <c:v>0.76883649410558796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0.87134802665299949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0.93968904835127365</c:v>
                </c:pt>
                <c:pt idx="56">
                  <c:v>0.95677430377584161</c:v>
                </c:pt>
                <c:pt idx="57">
                  <c:v>0.9738595592004109</c:v>
                </c:pt>
                <c:pt idx="58">
                  <c:v>0.99094481462497974</c:v>
                </c:pt>
                <c:pt idx="59">
                  <c:v>1</c:v>
                </c:pt>
              </c:numCache>
            </c:numRef>
          </c:xVal>
          <c:yVal>
            <c:numRef>
              <c:f xml:space="preserve">'УП-ЦТ 77-15'!$Q$3:$Q$62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50.100000000000023</c:v>
                </c:pt>
                <c:pt idx="24">
                  <c:v>50.100000000000023</c:v>
                </c:pt>
                <c:pt idx="25">
                  <c:v>50.100000000000023</c:v>
                </c:pt>
                <c:pt idx="26">
                  <c:v>50.20000000000001</c:v>
                </c:pt>
                <c:pt idx="27">
                  <c:v>50.20000000000001</c:v>
                </c:pt>
                <c:pt idx="28">
                  <c:v>50.300000000000004</c:v>
                </c:pt>
                <c:pt idx="29">
                  <c:v>50.4</c:v>
                </c:pt>
                <c:pt idx="30">
                  <c:v>50.4</c:v>
                </c:pt>
                <c:pt idx="31">
                  <c:v>50.600000000000023</c:v>
                </c:pt>
                <c:pt idx="32">
                  <c:v>50.70000000000001</c:v>
                </c:pt>
                <c:pt idx="33">
                  <c:v>50.9</c:v>
                </c:pt>
                <c:pt idx="34">
                  <c:v>51.100000000000023</c:v>
                </c:pt>
                <c:pt idx="35">
                  <c:v>51.300000000000004</c:v>
                </c:pt>
                <c:pt idx="36">
                  <c:v>51.600000000000023</c:v>
                </c:pt>
                <c:pt idx="37">
                  <c:v>51.9</c:v>
                </c:pt>
                <c:pt idx="38">
                  <c:v>52.300000000000004</c:v>
                </c:pt>
                <c:pt idx="39">
                  <c:v>52.70000000000001</c:v>
                </c:pt>
                <c:pt idx="40">
                  <c:v>53.20000000000001</c:v>
                </c:pt>
                <c:pt idx="41">
                  <c:v>53.800000000000004</c:v>
                </c:pt>
                <c:pt idx="42">
                  <c:v>54.4</c:v>
                </c:pt>
                <c:pt idx="43">
                  <c:v>55.20000000000001</c:v>
                </c:pt>
                <c:pt idx="44">
                  <c:v>56</c:v>
                </c:pt>
                <c:pt idx="45">
                  <c:v>56.9</c:v>
                </c:pt>
                <c:pt idx="46">
                  <c:v>58</c:v>
                </c:pt>
                <c:pt idx="47">
                  <c:v>59.300000000000004</c:v>
                </c:pt>
                <c:pt idx="48">
                  <c:v>60.70000000000001</c:v>
                </c:pt>
                <c:pt idx="49">
                  <c:v>62.600000000000023</c:v>
                </c:pt>
                <c:pt idx="50">
                  <c:v>65.2</c:v>
                </c:pt>
                <c:pt idx="51">
                  <c:v>69.800000000000011</c:v>
                </c:pt>
                <c:pt idx="52">
                  <c:v>78.300000000000011</c:v>
                </c:pt>
                <c:pt idx="53">
                  <c:v>93.5</c:v>
                </c:pt>
                <c:pt idx="54">
                  <c:v>115.30000000000001</c:v>
                </c:pt>
                <c:pt idx="55">
                  <c:v>141.10000000000002</c:v>
                </c:pt>
                <c:pt idx="56">
                  <c:v>168.3</c:v>
                </c:pt>
                <c:pt idx="57">
                  <c:v>195.2</c:v>
                </c:pt>
                <c:pt idx="58">
                  <c:v>220.4</c:v>
                </c:pt>
                <c:pt idx="59">
                  <c:v>242.5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538688"/>
        <c:axId val="83540992"/>
      </c:scatterChart>
      <c:valAx>
        <c:axId val="83538688"/>
        <c:scaling>
          <c:orientation val="minMax"/>
          <c:max val="1"/>
          <c:min val="0.80000000000000004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2000" i="1">
                    <a:latin typeface="Times New Roman" pitchFamily="18" charset="0"/>
                    <a:cs typeface="Times New Roman" pitchFamily="18" charset="0"/>
                  </a:defRPr>
                </a:pPr>
                <a:r>
                  <a:rPr lang="el-GR" sz="2000" i="1"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i="1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l-GR" sz="2000" b="1" i="1" u="none" strike="noStrike" baseline="0">
                    <a:effectLst/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b="1" i="1" u="none" strike="noStrike" baseline="-25000">
                    <a:effectLst/>
                    <a:latin typeface="Times New Roman" pitchFamily="18" charset="0"/>
                    <a:cs typeface="Times New Roman" pitchFamily="18" charset="0"/>
                  </a:rPr>
                  <a:t>max</a:t>
                </a:r>
                <a:endParaRPr lang="ru-RU" sz="2000" i="1" baseline="-25000"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>
            <c:manualLayout>
              <c:xMode val="edge"/>
              <c:yMode val="edge"/>
              <c:x val="0.5001192109050886"/>
              <c:y val="0.93007324565361515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83540992"/>
        <c:crosses val="autoZero"/>
        <c:crossBetween val="midCat"/>
        <c:majorUnit val="0.050000000000000024"/>
        <c:minorUnit val="0.010000000000000007"/>
      </c:valAx>
      <c:valAx>
        <c:axId val="83540992"/>
        <c:scaling>
          <c:orientation val="minMax"/>
          <c:max val="250"/>
          <c:min val="5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 i="1" baseline="0">
                    <a:latin typeface="Times New Roman" pitchFamily="18" charset="0"/>
                    <a:cs typeface="Times New Roman" pitchFamily="18" charset="0"/>
                  </a:rPr>
                  <a:t>T, ºC</a:t>
                </a:r>
                <a:endParaRPr lang="ru-RU" sz="2000" i="1" baseline="0"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>
            <c:manualLayout>
              <c:xMode val="edge"/>
              <c:yMode val="edge"/>
              <c:x val="0.0005376202974628182"/>
              <c:y val="0.06564476308593245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83538688"/>
        <c:crosses val="autoZero"/>
        <c:crossBetween val="midCat"/>
        <c:majorUnit val="50"/>
        <c:minorUnit val="10"/>
      </c:valAx>
    </c:plotArea>
    <c:legend>
      <c:legendPos val="r"/>
      <c:layout>
        <c:manualLayout>
          <c:xMode val="edge"/>
          <c:yMode val="edge"/>
          <c:x val="0.17081452318460189"/>
          <c:y val="0.079484328622364958"/>
          <c:w val="0.50504593175853019"/>
          <c:h val="0.29060145314546532"/>
        </c:manualLayout>
      </c:layout>
      <c:overlay val="1"/>
      <c:spPr>
        <a:solidFill>
          <a:schemeClr val="bg1"/>
        </a:solidFill>
        <a:ln>
          <a:solidFill>
            <a:schemeClr val="tx1"/>
          </a:solidFill>
        </a:ln>
      </c:spPr>
      <c:txPr>
        <a:bodyPr/>
        <a:lstStyle/>
        <a:p>
          <a:pPr>
            <a:defRPr sz="14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Times New Roman" pitchFamily="18" charset="0"/>
          <a:cs typeface="Times New Roman" pitchFamily="18" charset="0"/>
        </a:defRPr>
      </a:pPr>
      <a:endParaRPr lang="ru-RU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431405113908791"/>
          <c:y val="0.038848917022795339"/>
          <c:w val="0.82490047501124508"/>
          <c:h val="0.82444894832098625"/>
        </c:manualLayout>
      </c:layout>
      <c:scatterChart>
        <c:scatterStyle val="lineMarker"/>
        <c:varyColors val="0"/>
        <c:ser>
          <c:idx val="0"/>
          <c:order val="0"/>
          <c:tx>
            <c:strRef>
              <c:f xml:space="preserve">'ОП 77-15'!$C$1</c:f>
              <c:strCache>
                <c:ptCount val="1"/>
                <c:pt idx="0">
                  <c:v>Номинал</c:v>
                </c:pt>
              </c:strCache>
            </c:strRef>
          </c:tx>
          <c:spPr>
            <a:ln w="2540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 xml:space="preserve">'ОП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5.1255766273705754E-2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0.11959678797198035</c:v>
                </c:pt>
                <c:pt idx="8">
                  <c:v>0.13668204339654877</c:v>
                </c:pt>
                <c:pt idx="9">
                  <c:v>0.15376729882111762</c:v>
                </c:pt>
                <c:pt idx="10">
                  <c:v>0.17085255424568579</c:v>
                </c:pt>
                <c:pt idx="11">
                  <c:v>0.18793780967025467</c:v>
                </c:pt>
                <c:pt idx="12">
                  <c:v>0.20502306509482321</c:v>
                </c:pt>
                <c:pt idx="13">
                  <c:v>0.22210832051939186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0.27336408679309776</c:v>
                </c:pt>
                <c:pt idx="17">
                  <c:v>0.29044934221766638</c:v>
                </c:pt>
                <c:pt idx="18">
                  <c:v>0.30753459764223501</c:v>
                </c:pt>
                <c:pt idx="19">
                  <c:v>0.32461985306680358</c:v>
                </c:pt>
                <c:pt idx="20">
                  <c:v>0.34170510849137159</c:v>
                </c:pt>
                <c:pt idx="21">
                  <c:v>0.35879036391594094</c:v>
                </c:pt>
                <c:pt idx="22">
                  <c:v>0.37587561934050961</c:v>
                </c:pt>
                <c:pt idx="23">
                  <c:v>0.39296087476507829</c:v>
                </c:pt>
                <c:pt idx="24">
                  <c:v>0.41004613018964653</c:v>
                </c:pt>
                <c:pt idx="25">
                  <c:v>0.42713138561421515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0.47838715188792097</c:v>
                </c:pt>
                <c:pt idx="29">
                  <c:v>0.49547240731248993</c:v>
                </c:pt>
                <c:pt idx="30">
                  <c:v>0.51255766273705727</c:v>
                </c:pt>
                <c:pt idx="31">
                  <c:v>0.52964291816162645</c:v>
                </c:pt>
                <c:pt idx="32">
                  <c:v>0.54672817358619585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0.59798393985990028</c:v>
                </c:pt>
                <c:pt idx="36">
                  <c:v>0.61506919528446968</c:v>
                </c:pt>
                <c:pt idx="37">
                  <c:v>0.63215445070903853</c:v>
                </c:pt>
                <c:pt idx="38">
                  <c:v>0.64923970613360715</c:v>
                </c:pt>
                <c:pt idx="39">
                  <c:v>0.66632496155817622</c:v>
                </c:pt>
                <c:pt idx="40">
                  <c:v>0.68341021698274351</c:v>
                </c:pt>
                <c:pt idx="41">
                  <c:v>0.70049547240731302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0.75175123868101912</c:v>
                </c:pt>
                <c:pt idx="45">
                  <c:v>0.76883649410558763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0.87134802665299904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0.93968904835127331</c:v>
                </c:pt>
                <c:pt idx="56">
                  <c:v>0.95677430377584161</c:v>
                </c:pt>
                <c:pt idx="57">
                  <c:v>0.97385955920041045</c:v>
                </c:pt>
                <c:pt idx="58">
                  <c:v>0.99094481462497919</c:v>
                </c:pt>
                <c:pt idx="59">
                  <c:v>1</c:v>
                </c:pt>
              </c:numCache>
            </c:numRef>
          </c:xVal>
          <c:yVal>
            <c:numRef>
              <c:f xml:space="preserve">'ОП 77-15'!$E$3:$E$62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50.300000000000004</c:v>
                </c:pt>
                <c:pt idx="34">
                  <c:v>50.4</c:v>
                </c:pt>
                <c:pt idx="35">
                  <c:v>50.5</c:v>
                </c:pt>
                <c:pt idx="36">
                  <c:v>50.70000000000001</c:v>
                </c:pt>
                <c:pt idx="37">
                  <c:v>50.800000000000004</c:v>
                </c:pt>
                <c:pt idx="38">
                  <c:v>51</c:v>
                </c:pt>
                <c:pt idx="39">
                  <c:v>51.20000000000001</c:v>
                </c:pt>
                <c:pt idx="40">
                  <c:v>51.5</c:v>
                </c:pt>
                <c:pt idx="41">
                  <c:v>51.70000000000001</c:v>
                </c:pt>
                <c:pt idx="42">
                  <c:v>52.100000000000023</c:v>
                </c:pt>
                <c:pt idx="43">
                  <c:v>52.4</c:v>
                </c:pt>
                <c:pt idx="44">
                  <c:v>52.9</c:v>
                </c:pt>
                <c:pt idx="45">
                  <c:v>53.4</c:v>
                </c:pt>
                <c:pt idx="46">
                  <c:v>54</c:v>
                </c:pt>
                <c:pt idx="47">
                  <c:v>54.70000000000001</c:v>
                </c:pt>
                <c:pt idx="48">
                  <c:v>55.4</c:v>
                </c:pt>
                <c:pt idx="49">
                  <c:v>56.4</c:v>
                </c:pt>
                <c:pt idx="50">
                  <c:v>57.5</c:v>
                </c:pt>
                <c:pt idx="51">
                  <c:v>58.9</c:v>
                </c:pt>
                <c:pt idx="52">
                  <c:v>60.70000000000001</c:v>
                </c:pt>
                <c:pt idx="53">
                  <c:v>63</c:v>
                </c:pt>
                <c:pt idx="54">
                  <c:v>66.399999999999977</c:v>
                </c:pt>
                <c:pt idx="55">
                  <c:v>71.100000000000009</c:v>
                </c:pt>
                <c:pt idx="56">
                  <c:v>77.600000000000009</c:v>
                </c:pt>
                <c:pt idx="57">
                  <c:v>86.5</c:v>
                </c:pt>
                <c:pt idx="58">
                  <c:v>97.600000000000009</c:v>
                </c:pt>
                <c:pt idx="59">
                  <c:v>104.39999999999999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 xml:space="preserve">'ОП 77-15'!$F$1</c:f>
              <c:strCache>
                <c:ptCount val="1"/>
                <c:pt idx="0">
                  <c:v>λ+10%</c:v>
                </c:pt>
              </c:strCache>
            </c:strRef>
          </c:tx>
          <c:spPr>
            <a:ln w="12700">
              <a:solidFill>
                <a:schemeClr val="tx1"/>
              </a:solidFill>
              <a:prstDash val="sysDot"/>
            </a:ln>
          </c:spPr>
          <c:marker>
            <c:symbol val="triangle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'ОП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5.1255766273705754E-2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0.11959678797198035</c:v>
                </c:pt>
                <c:pt idx="8">
                  <c:v>0.13668204339654877</c:v>
                </c:pt>
                <c:pt idx="9">
                  <c:v>0.15376729882111762</c:v>
                </c:pt>
                <c:pt idx="10">
                  <c:v>0.17085255424568579</c:v>
                </c:pt>
                <c:pt idx="11">
                  <c:v>0.18793780967025467</c:v>
                </c:pt>
                <c:pt idx="12">
                  <c:v>0.20502306509482321</c:v>
                </c:pt>
                <c:pt idx="13">
                  <c:v>0.22210832051939186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0.27336408679309776</c:v>
                </c:pt>
                <c:pt idx="17">
                  <c:v>0.29044934221766638</c:v>
                </c:pt>
                <c:pt idx="18">
                  <c:v>0.30753459764223501</c:v>
                </c:pt>
                <c:pt idx="19">
                  <c:v>0.32461985306680358</c:v>
                </c:pt>
                <c:pt idx="20">
                  <c:v>0.34170510849137159</c:v>
                </c:pt>
                <c:pt idx="21">
                  <c:v>0.35879036391594094</c:v>
                </c:pt>
                <c:pt idx="22">
                  <c:v>0.37587561934050961</c:v>
                </c:pt>
                <c:pt idx="23">
                  <c:v>0.39296087476507829</c:v>
                </c:pt>
                <c:pt idx="24">
                  <c:v>0.41004613018964653</c:v>
                </c:pt>
                <c:pt idx="25">
                  <c:v>0.42713138561421515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0.47838715188792097</c:v>
                </c:pt>
                <c:pt idx="29">
                  <c:v>0.49547240731248993</c:v>
                </c:pt>
                <c:pt idx="30">
                  <c:v>0.51255766273705727</c:v>
                </c:pt>
                <c:pt idx="31">
                  <c:v>0.52964291816162645</c:v>
                </c:pt>
                <c:pt idx="32">
                  <c:v>0.54672817358619585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0.59798393985990028</c:v>
                </c:pt>
                <c:pt idx="36">
                  <c:v>0.61506919528446968</c:v>
                </c:pt>
                <c:pt idx="37">
                  <c:v>0.63215445070903853</c:v>
                </c:pt>
                <c:pt idx="38">
                  <c:v>0.64923970613360715</c:v>
                </c:pt>
                <c:pt idx="39">
                  <c:v>0.66632496155817622</c:v>
                </c:pt>
                <c:pt idx="40">
                  <c:v>0.68341021698274351</c:v>
                </c:pt>
                <c:pt idx="41">
                  <c:v>0.70049547240731302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0.75175123868101912</c:v>
                </c:pt>
                <c:pt idx="45">
                  <c:v>0.76883649410558763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0.87134802665299904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0.93968904835127331</c:v>
                </c:pt>
                <c:pt idx="56">
                  <c:v>0.95677430377584161</c:v>
                </c:pt>
                <c:pt idx="57">
                  <c:v>0.97385955920041045</c:v>
                </c:pt>
                <c:pt idx="58">
                  <c:v>0.99094481462497919</c:v>
                </c:pt>
                <c:pt idx="59">
                  <c:v>1</c:v>
                </c:pt>
              </c:numCache>
            </c:numRef>
          </c:xVal>
          <c:yVal>
            <c:numRef>
              <c:f xml:space="preserve">'ОП 77-15'!$H$3:$H$62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50.100000000000023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50.4</c:v>
                </c:pt>
                <c:pt idx="34">
                  <c:v>50.5</c:v>
                </c:pt>
                <c:pt idx="35">
                  <c:v>50.600000000000023</c:v>
                </c:pt>
                <c:pt idx="36">
                  <c:v>50.800000000000004</c:v>
                </c:pt>
                <c:pt idx="37">
                  <c:v>50.9</c:v>
                </c:pt>
                <c:pt idx="38">
                  <c:v>51.100000000000023</c:v>
                </c:pt>
                <c:pt idx="39">
                  <c:v>51.4</c:v>
                </c:pt>
                <c:pt idx="40">
                  <c:v>51.600000000000023</c:v>
                </c:pt>
                <c:pt idx="41">
                  <c:v>51.9</c:v>
                </c:pt>
                <c:pt idx="42">
                  <c:v>52.300000000000004</c:v>
                </c:pt>
                <c:pt idx="43">
                  <c:v>52.70000000000001</c:v>
                </c:pt>
                <c:pt idx="44">
                  <c:v>53.20000000000001</c:v>
                </c:pt>
                <c:pt idx="45">
                  <c:v>53.800000000000004</c:v>
                </c:pt>
                <c:pt idx="46">
                  <c:v>54.4</c:v>
                </c:pt>
                <c:pt idx="47">
                  <c:v>55.20000000000001</c:v>
                </c:pt>
                <c:pt idx="48">
                  <c:v>56.100000000000023</c:v>
                </c:pt>
                <c:pt idx="49">
                  <c:v>57.100000000000023</c:v>
                </c:pt>
                <c:pt idx="50">
                  <c:v>58.4</c:v>
                </c:pt>
                <c:pt idx="51">
                  <c:v>59.9</c:v>
                </c:pt>
                <c:pt idx="52">
                  <c:v>61.9</c:v>
                </c:pt>
                <c:pt idx="53">
                  <c:v>64.600000000000009</c:v>
                </c:pt>
                <c:pt idx="54">
                  <c:v>68.399999999999977</c:v>
                </c:pt>
                <c:pt idx="55">
                  <c:v>73.7</c:v>
                </c:pt>
                <c:pt idx="56">
                  <c:v>81.2</c:v>
                </c:pt>
                <c:pt idx="57">
                  <c:v>91.100000000000009</c:v>
                </c:pt>
                <c:pt idx="58">
                  <c:v>103.5</c:v>
                </c:pt>
                <c:pt idx="59">
                  <c:v>110.89999999999999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 xml:space="preserve">'ОП 77-15'!$I$1</c:f>
              <c:strCache>
                <c:ptCount val="1"/>
                <c:pt idx="0">
                  <c:v>Cp-10%</c:v>
                </c:pt>
              </c:strCache>
            </c:strRef>
          </c:tx>
          <c:spPr>
            <a:ln w="12700">
              <a:solidFill>
                <a:schemeClr val="tx1"/>
              </a:solidFill>
              <a:prstDash val="sysDash"/>
            </a:ln>
          </c:spPr>
          <c:marker>
            <c:symbol val="circle"/>
            <c:size val="7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'ОП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5.1255766273705754E-2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0.11959678797198035</c:v>
                </c:pt>
                <c:pt idx="8">
                  <c:v>0.13668204339654877</c:v>
                </c:pt>
                <c:pt idx="9">
                  <c:v>0.15376729882111762</c:v>
                </c:pt>
                <c:pt idx="10">
                  <c:v>0.17085255424568579</c:v>
                </c:pt>
                <c:pt idx="11">
                  <c:v>0.18793780967025467</c:v>
                </c:pt>
                <c:pt idx="12">
                  <c:v>0.20502306509482321</c:v>
                </c:pt>
                <c:pt idx="13">
                  <c:v>0.22210832051939186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0.27336408679309776</c:v>
                </c:pt>
                <c:pt idx="17">
                  <c:v>0.29044934221766638</c:v>
                </c:pt>
                <c:pt idx="18">
                  <c:v>0.30753459764223501</c:v>
                </c:pt>
                <c:pt idx="19">
                  <c:v>0.32461985306680358</c:v>
                </c:pt>
                <c:pt idx="20">
                  <c:v>0.34170510849137159</c:v>
                </c:pt>
                <c:pt idx="21">
                  <c:v>0.35879036391594094</c:v>
                </c:pt>
                <c:pt idx="22">
                  <c:v>0.37587561934050961</c:v>
                </c:pt>
                <c:pt idx="23">
                  <c:v>0.39296087476507829</c:v>
                </c:pt>
                <c:pt idx="24">
                  <c:v>0.41004613018964653</c:v>
                </c:pt>
                <c:pt idx="25">
                  <c:v>0.42713138561421515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0.47838715188792097</c:v>
                </c:pt>
                <c:pt idx="29">
                  <c:v>0.49547240731248993</c:v>
                </c:pt>
                <c:pt idx="30">
                  <c:v>0.51255766273705727</c:v>
                </c:pt>
                <c:pt idx="31">
                  <c:v>0.52964291816162645</c:v>
                </c:pt>
                <c:pt idx="32">
                  <c:v>0.54672817358619585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0.59798393985990028</c:v>
                </c:pt>
                <c:pt idx="36">
                  <c:v>0.61506919528446968</c:v>
                </c:pt>
                <c:pt idx="37">
                  <c:v>0.63215445070903853</c:v>
                </c:pt>
                <c:pt idx="38">
                  <c:v>0.64923970613360715</c:v>
                </c:pt>
                <c:pt idx="39">
                  <c:v>0.66632496155817622</c:v>
                </c:pt>
                <c:pt idx="40">
                  <c:v>0.68341021698274351</c:v>
                </c:pt>
                <c:pt idx="41">
                  <c:v>0.70049547240731302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0.75175123868101912</c:v>
                </c:pt>
                <c:pt idx="45">
                  <c:v>0.76883649410558763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0.87134802665299904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0.93968904835127331</c:v>
                </c:pt>
                <c:pt idx="56">
                  <c:v>0.95677430377584161</c:v>
                </c:pt>
                <c:pt idx="57">
                  <c:v>0.97385955920041045</c:v>
                </c:pt>
                <c:pt idx="58">
                  <c:v>0.99094481462497919</c:v>
                </c:pt>
                <c:pt idx="59">
                  <c:v>1</c:v>
                </c:pt>
              </c:numCache>
            </c:numRef>
          </c:xVal>
          <c:yVal>
            <c:numRef>
              <c:f xml:space="preserve">'ОП 77-15'!$K$3:$K$62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50.4</c:v>
                </c:pt>
                <c:pt idx="34">
                  <c:v>50.5</c:v>
                </c:pt>
                <c:pt idx="35">
                  <c:v>50.600000000000023</c:v>
                </c:pt>
                <c:pt idx="36">
                  <c:v>50.70000000000001</c:v>
                </c:pt>
                <c:pt idx="37">
                  <c:v>50.9</c:v>
                </c:pt>
                <c:pt idx="38">
                  <c:v>51.100000000000023</c:v>
                </c:pt>
                <c:pt idx="39">
                  <c:v>51.300000000000004</c:v>
                </c:pt>
                <c:pt idx="40">
                  <c:v>51.600000000000023</c:v>
                </c:pt>
                <c:pt idx="41">
                  <c:v>51.9</c:v>
                </c:pt>
                <c:pt idx="42">
                  <c:v>52.300000000000004</c:v>
                </c:pt>
                <c:pt idx="43">
                  <c:v>52.70000000000001</c:v>
                </c:pt>
                <c:pt idx="44">
                  <c:v>53.100000000000023</c:v>
                </c:pt>
                <c:pt idx="45">
                  <c:v>53.70000000000001</c:v>
                </c:pt>
                <c:pt idx="46">
                  <c:v>54.300000000000004</c:v>
                </c:pt>
                <c:pt idx="47">
                  <c:v>55.100000000000023</c:v>
                </c:pt>
                <c:pt idx="48">
                  <c:v>55.9</c:v>
                </c:pt>
                <c:pt idx="49">
                  <c:v>56.9</c:v>
                </c:pt>
                <c:pt idx="50">
                  <c:v>58.20000000000001</c:v>
                </c:pt>
                <c:pt idx="51">
                  <c:v>59.70000000000001</c:v>
                </c:pt>
                <c:pt idx="52">
                  <c:v>61.600000000000023</c:v>
                </c:pt>
                <c:pt idx="53">
                  <c:v>64.300000000000011</c:v>
                </c:pt>
                <c:pt idx="54">
                  <c:v>68.100000000000009</c:v>
                </c:pt>
                <c:pt idx="55">
                  <c:v>73.5</c:v>
                </c:pt>
                <c:pt idx="56">
                  <c:v>81.2</c:v>
                </c:pt>
                <c:pt idx="57">
                  <c:v>91.800000000000011</c:v>
                </c:pt>
                <c:pt idx="58">
                  <c:v>104.89999999999999</c:v>
                </c:pt>
                <c:pt idx="59">
                  <c:v>112.60000000000001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 xml:space="preserve">'ОП 77-15'!$L$1</c:f>
              <c:strCache>
                <c:ptCount val="1"/>
                <c:pt idx="0">
                  <c:v>ρ-10%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diamond"/>
            <c:size val="7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'ОП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5.1255766273705754E-2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0.11959678797198035</c:v>
                </c:pt>
                <c:pt idx="8">
                  <c:v>0.13668204339654877</c:v>
                </c:pt>
                <c:pt idx="9">
                  <c:v>0.15376729882111762</c:v>
                </c:pt>
                <c:pt idx="10">
                  <c:v>0.17085255424568579</c:v>
                </c:pt>
                <c:pt idx="11">
                  <c:v>0.18793780967025467</c:v>
                </c:pt>
                <c:pt idx="12">
                  <c:v>0.20502306509482321</c:v>
                </c:pt>
                <c:pt idx="13">
                  <c:v>0.22210832051939186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0.27336408679309776</c:v>
                </c:pt>
                <c:pt idx="17">
                  <c:v>0.29044934221766638</c:v>
                </c:pt>
                <c:pt idx="18">
                  <c:v>0.30753459764223501</c:v>
                </c:pt>
                <c:pt idx="19">
                  <c:v>0.32461985306680358</c:v>
                </c:pt>
                <c:pt idx="20">
                  <c:v>0.34170510849137159</c:v>
                </c:pt>
                <c:pt idx="21">
                  <c:v>0.35879036391594094</c:v>
                </c:pt>
                <c:pt idx="22">
                  <c:v>0.37587561934050961</c:v>
                </c:pt>
                <c:pt idx="23">
                  <c:v>0.39296087476507829</c:v>
                </c:pt>
                <c:pt idx="24">
                  <c:v>0.41004613018964653</c:v>
                </c:pt>
                <c:pt idx="25">
                  <c:v>0.42713138561421515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0.47838715188792097</c:v>
                </c:pt>
                <c:pt idx="29">
                  <c:v>0.49547240731248993</c:v>
                </c:pt>
                <c:pt idx="30">
                  <c:v>0.51255766273705727</c:v>
                </c:pt>
                <c:pt idx="31">
                  <c:v>0.52964291816162645</c:v>
                </c:pt>
                <c:pt idx="32">
                  <c:v>0.54672817358619585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0.59798393985990028</c:v>
                </c:pt>
                <c:pt idx="36">
                  <c:v>0.61506919528446968</c:v>
                </c:pt>
                <c:pt idx="37">
                  <c:v>0.63215445070903853</c:v>
                </c:pt>
                <c:pt idx="38">
                  <c:v>0.64923970613360715</c:v>
                </c:pt>
                <c:pt idx="39">
                  <c:v>0.66632496155817622</c:v>
                </c:pt>
                <c:pt idx="40">
                  <c:v>0.68341021698274351</c:v>
                </c:pt>
                <c:pt idx="41">
                  <c:v>0.70049547240731302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0.75175123868101912</c:v>
                </c:pt>
                <c:pt idx="45">
                  <c:v>0.76883649410558763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0.87134802665299904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0.93968904835127331</c:v>
                </c:pt>
                <c:pt idx="56">
                  <c:v>0.95677430377584161</c:v>
                </c:pt>
                <c:pt idx="57">
                  <c:v>0.97385955920041045</c:v>
                </c:pt>
                <c:pt idx="58">
                  <c:v>0.99094481462497919</c:v>
                </c:pt>
                <c:pt idx="59">
                  <c:v>1</c:v>
                </c:pt>
              </c:numCache>
            </c:numRef>
          </c:xVal>
          <c:yVal>
            <c:numRef>
              <c:f xml:space="preserve">'ОП 77-15'!$N$3:$N$62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50.100000000000023</c:v>
                </c:pt>
                <c:pt idx="30">
                  <c:v>50.20000000000001</c:v>
                </c:pt>
                <c:pt idx="31">
                  <c:v>50.20000000000001</c:v>
                </c:pt>
                <c:pt idx="32">
                  <c:v>50.300000000000004</c:v>
                </c:pt>
                <c:pt idx="33">
                  <c:v>50.4</c:v>
                </c:pt>
                <c:pt idx="34">
                  <c:v>50.5</c:v>
                </c:pt>
                <c:pt idx="35">
                  <c:v>50.600000000000023</c:v>
                </c:pt>
                <c:pt idx="36">
                  <c:v>50.70000000000001</c:v>
                </c:pt>
                <c:pt idx="37">
                  <c:v>50.9</c:v>
                </c:pt>
                <c:pt idx="38">
                  <c:v>51.100000000000023</c:v>
                </c:pt>
                <c:pt idx="39">
                  <c:v>51.300000000000004</c:v>
                </c:pt>
                <c:pt idx="40">
                  <c:v>51.600000000000023</c:v>
                </c:pt>
                <c:pt idx="41">
                  <c:v>51.9</c:v>
                </c:pt>
                <c:pt idx="42">
                  <c:v>52.300000000000004</c:v>
                </c:pt>
                <c:pt idx="43">
                  <c:v>52.70000000000001</c:v>
                </c:pt>
                <c:pt idx="44">
                  <c:v>53.100000000000023</c:v>
                </c:pt>
                <c:pt idx="45">
                  <c:v>53.70000000000001</c:v>
                </c:pt>
                <c:pt idx="46">
                  <c:v>54.300000000000004</c:v>
                </c:pt>
                <c:pt idx="47">
                  <c:v>55.100000000000023</c:v>
                </c:pt>
                <c:pt idx="48">
                  <c:v>55.9</c:v>
                </c:pt>
                <c:pt idx="49">
                  <c:v>56.9</c:v>
                </c:pt>
                <c:pt idx="50">
                  <c:v>58.20000000000001</c:v>
                </c:pt>
                <c:pt idx="51">
                  <c:v>59.70000000000001</c:v>
                </c:pt>
                <c:pt idx="52">
                  <c:v>61.70000000000001</c:v>
                </c:pt>
                <c:pt idx="53">
                  <c:v>64.399999999999977</c:v>
                </c:pt>
                <c:pt idx="54">
                  <c:v>68.300000000000011</c:v>
                </c:pt>
                <c:pt idx="55">
                  <c:v>73.899999999999977</c:v>
                </c:pt>
                <c:pt idx="56">
                  <c:v>81.899999999999977</c:v>
                </c:pt>
                <c:pt idx="57">
                  <c:v>92.7</c:v>
                </c:pt>
                <c:pt idx="58">
                  <c:v>106</c:v>
                </c:pt>
                <c:pt idx="59">
                  <c:v>113.80000000000001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 xml:space="preserve">'ОП 77-15'!$P$1</c:f>
              <c:strCache>
                <c:ptCount val="1"/>
                <c:pt idx="0">
                  <c:v xml:space="preserve">λ+10% Cp-10% ρ-10%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7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 xml:space="preserve">'ОП 77-15'!$B$3:$B$62</c:f>
              <c:numCache>
                <c:formatCode>General</c:formatCode>
                <c:ptCount val="60"/>
                <c:pt idx="0">
                  <c:v>0</c:v>
                </c:pt>
                <c:pt idx="1">
                  <c:v>1.7085255424568603E-2</c:v>
                </c:pt>
                <c:pt idx="2">
                  <c:v>3.4170510849137192E-2</c:v>
                </c:pt>
                <c:pt idx="3">
                  <c:v>5.1255766273705754E-2</c:v>
                </c:pt>
                <c:pt idx="4">
                  <c:v>6.8341021698274385E-2</c:v>
                </c:pt>
                <c:pt idx="5">
                  <c:v>8.5426277122843008E-2</c:v>
                </c:pt>
                <c:pt idx="6">
                  <c:v>0.10251153254741159</c:v>
                </c:pt>
                <c:pt idx="7">
                  <c:v>0.11959678797198035</c:v>
                </c:pt>
                <c:pt idx="8">
                  <c:v>0.13668204339654877</c:v>
                </c:pt>
                <c:pt idx="9">
                  <c:v>0.15376729882111762</c:v>
                </c:pt>
                <c:pt idx="10">
                  <c:v>0.17085255424568579</c:v>
                </c:pt>
                <c:pt idx="11">
                  <c:v>0.18793780967025467</c:v>
                </c:pt>
                <c:pt idx="12">
                  <c:v>0.20502306509482321</c:v>
                </c:pt>
                <c:pt idx="13">
                  <c:v>0.22210832051939186</c:v>
                </c:pt>
                <c:pt idx="14">
                  <c:v>0.23919357594396035</c:v>
                </c:pt>
                <c:pt idx="15">
                  <c:v>0.25627883136852897</c:v>
                </c:pt>
                <c:pt idx="16">
                  <c:v>0.27336408679309776</c:v>
                </c:pt>
                <c:pt idx="17">
                  <c:v>0.29044934221766638</c:v>
                </c:pt>
                <c:pt idx="18">
                  <c:v>0.30753459764223501</c:v>
                </c:pt>
                <c:pt idx="19">
                  <c:v>0.32461985306680358</c:v>
                </c:pt>
                <c:pt idx="20">
                  <c:v>0.34170510849137159</c:v>
                </c:pt>
                <c:pt idx="21">
                  <c:v>0.35879036391594094</c:v>
                </c:pt>
                <c:pt idx="22">
                  <c:v>0.37587561934050961</c:v>
                </c:pt>
                <c:pt idx="23">
                  <c:v>0.39296087476507829</c:v>
                </c:pt>
                <c:pt idx="24">
                  <c:v>0.41004613018964653</c:v>
                </c:pt>
                <c:pt idx="25">
                  <c:v>0.42713138561421515</c:v>
                </c:pt>
                <c:pt idx="26">
                  <c:v>0.4442166410387835</c:v>
                </c:pt>
                <c:pt idx="27">
                  <c:v>0.46130189646335212</c:v>
                </c:pt>
                <c:pt idx="28">
                  <c:v>0.47838715188792097</c:v>
                </c:pt>
                <c:pt idx="29">
                  <c:v>0.49547240731248993</c:v>
                </c:pt>
                <c:pt idx="30">
                  <c:v>0.51255766273705727</c:v>
                </c:pt>
                <c:pt idx="31">
                  <c:v>0.52964291816162645</c:v>
                </c:pt>
                <c:pt idx="32">
                  <c:v>0.54672817358619585</c:v>
                </c:pt>
                <c:pt idx="33">
                  <c:v>0.56381342901076359</c:v>
                </c:pt>
                <c:pt idx="34">
                  <c:v>0.58089868443533232</c:v>
                </c:pt>
                <c:pt idx="35">
                  <c:v>0.59798393985990028</c:v>
                </c:pt>
                <c:pt idx="36">
                  <c:v>0.61506919528446968</c:v>
                </c:pt>
                <c:pt idx="37">
                  <c:v>0.63215445070903853</c:v>
                </c:pt>
                <c:pt idx="38">
                  <c:v>0.64923970613360715</c:v>
                </c:pt>
                <c:pt idx="39">
                  <c:v>0.66632496155817622</c:v>
                </c:pt>
                <c:pt idx="40">
                  <c:v>0.68341021698274351</c:v>
                </c:pt>
                <c:pt idx="41">
                  <c:v>0.70049547240731302</c:v>
                </c:pt>
                <c:pt idx="42">
                  <c:v>0.71758072783188109</c:v>
                </c:pt>
                <c:pt idx="43">
                  <c:v>0.73466598325644972</c:v>
                </c:pt>
                <c:pt idx="44">
                  <c:v>0.75175123868101912</c:v>
                </c:pt>
                <c:pt idx="45">
                  <c:v>0.76883649410558763</c:v>
                </c:pt>
                <c:pt idx="46">
                  <c:v>0.7859217495301557</c:v>
                </c:pt>
                <c:pt idx="47">
                  <c:v>0.8030070049547241</c:v>
                </c:pt>
                <c:pt idx="48">
                  <c:v>0.82009226037929261</c:v>
                </c:pt>
                <c:pt idx="49">
                  <c:v>0.83717751580386124</c:v>
                </c:pt>
                <c:pt idx="50">
                  <c:v>0.85426277122842986</c:v>
                </c:pt>
                <c:pt idx="51">
                  <c:v>0.87134802665299904</c:v>
                </c:pt>
                <c:pt idx="52">
                  <c:v>0.88843328207756656</c:v>
                </c:pt>
                <c:pt idx="53">
                  <c:v>0.90551853750213551</c:v>
                </c:pt>
                <c:pt idx="54">
                  <c:v>0.92260379292670425</c:v>
                </c:pt>
                <c:pt idx="55">
                  <c:v>0.93968904835127331</c:v>
                </c:pt>
                <c:pt idx="56">
                  <c:v>0.95677430377584161</c:v>
                </c:pt>
                <c:pt idx="57">
                  <c:v>0.97385955920041045</c:v>
                </c:pt>
                <c:pt idx="58">
                  <c:v>0.99094481462497919</c:v>
                </c:pt>
                <c:pt idx="59">
                  <c:v>1</c:v>
                </c:pt>
              </c:numCache>
            </c:numRef>
          </c:xVal>
          <c:yVal>
            <c:numRef>
              <c:f xml:space="preserve">'ОП 77-15'!$Q$3:$Q$62</c:f>
              <c:numCache>
                <c:formatCode>General</c:formatCode>
                <c:ptCount val="6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  <c:pt idx="20">
                  <c:v>50</c:v>
                </c:pt>
                <c:pt idx="21">
                  <c:v>50</c:v>
                </c:pt>
                <c:pt idx="22">
                  <c:v>50</c:v>
                </c:pt>
                <c:pt idx="23">
                  <c:v>50</c:v>
                </c:pt>
                <c:pt idx="24">
                  <c:v>50</c:v>
                </c:pt>
                <c:pt idx="25">
                  <c:v>50</c:v>
                </c:pt>
                <c:pt idx="26">
                  <c:v>50.100000000000023</c:v>
                </c:pt>
                <c:pt idx="27">
                  <c:v>50.100000000000023</c:v>
                </c:pt>
                <c:pt idx="28">
                  <c:v>50.100000000000023</c:v>
                </c:pt>
                <c:pt idx="29">
                  <c:v>50.20000000000001</c:v>
                </c:pt>
                <c:pt idx="30">
                  <c:v>50.20000000000001</c:v>
                </c:pt>
                <c:pt idx="31">
                  <c:v>50.300000000000004</c:v>
                </c:pt>
                <c:pt idx="32">
                  <c:v>50.4</c:v>
                </c:pt>
                <c:pt idx="33">
                  <c:v>50.5</c:v>
                </c:pt>
                <c:pt idx="34">
                  <c:v>50.600000000000023</c:v>
                </c:pt>
                <c:pt idx="35">
                  <c:v>50.70000000000001</c:v>
                </c:pt>
                <c:pt idx="36">
                  <c:v>50.9</c:v>
                </c:pt>
                <c:pt idx="37">
                  <c:v>51.100000000000023</c:v>
                </c:pt>
                <c:pt idx="38">
                  <c:v>51.300000000000004</c:v>
                </c:pt>
                <c:pt idx="39">
                  <c:v>51.600000000000023</c:v>
                </c:pt>
                <c:pt idx="40">
                  <c:v>51.9</c:v>
                </c:pt>
                <c:pt idx="41">
                  <c:v>52.300000000000004</c:v>
                </c:pt>
                <c:pt idx="42">
                  <c:v>52.70000000000001</c:v>
                </c:pt>
                <c:pt idx="43">
                  <c:v>53.20000000000001</c:v>
                </c:pt>
                <c:pt idx="44">
                  <c:v>53.800000000000004</c:v>
                </c:pt>
                <c:pt idx="45">
                  <c:v>54.4</c:v>
                </c:pt>
                <c:pt idx="46">
                  <c:v>55.20000000000001</c:v>
                </c:pt>
                <c:pt idx="47">
                  <c:v>56.100000000000023</c:v>
                </c:pt>
                <c:pt idx="48">
                  <c:v>57.100000000000023</c:v>
                </c:pt>
                <c:pt idx="49">
                  <c:v>58.300000000000004</c:v>
                </c:pt>
                <c:pt idx="50">
                  <c:v>59.800000000000004</c:v>
                </c:pt>
                <c:pt idx="51">
                  <c:v>61.70000000000001</c:v>
                </c:pt>
                <c:pt idx="52">
                  <c:v>64.100000000000009</c:v>
                </c:pt>
                <c:pt idx="53">
                  <c:v>67.5</c:v>
                </c:pt>
                <c:pt idx="54">
                  <c:v>72.5</c:v>
                </c:pt>
                <c:pt idx="55">
                  <c:v>79.899999999999977</c:v>
                </c:pt>
                <c:pt idx="56">
                  <c:v>90.7</c:v>
                </c:pt>
                <c:pt idx="57">
                  <c:v>104.80000000000001</c:v>
                </c:pt>
                <c:pt idx="58">
                  <c:v>121.19999999999999</c:v>
                </c:pt>
                <c:pt idx="59">
                  <c:v>130.19999999999999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231936"/>
        <c:axId val="92238592"/>
      </c:scatterChart>
      <c:valAx>
        <c:axId val="92231936"/>
        <c:scaling>
          <c:orientation val="minMax"/>
          <c:max val="1"/>
          <c:min val="0.80000000000000004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l-GR" sz="2000" b="1" i="1" baseline="0">
                    <a:effectLst/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b="1" i="1" baseline="0">
                    <a:effectLst/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l-GR" sz="2000" b="1" i="1" baseline="0">
                    <a:effectLst/>
                    <a:latin typeface="Times New Roman" pitchFamily="18" charset="0"/>
                    <a:cs typeface="Times New Roman" pitchFamily="18" charset="0"/>
                  </a:rPr>
                  <a:t>τ</a:t>
                </a:r>
                <a:r>
                  <a:rPr lang="en-US" sz="2000" b="1" i="1" baseline="-25000">
                    <a:effectLst/>
                    <a:latin typeface="Times New Roman" pitchFamily="18" charset="0"/>
                    <a:cs typeface="Times New Roman" pitchFamily="18" charset="0"/>
                  </a:rPr>
                  <a:t>max</a:t>
                </a:r>
                <a:endParaRPr lang="ru-RU" sz="2000">
                  <a:effectLst/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>
            <c:manualLayout>
              <c:xMode val="edge"/>
              <c:yMode val="edge"/>
              <c:x val="0.49020428943557198"/>
              <c:y val="0.9294524724692087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2238592"/>
        <c:crosses val="autoZero"/>
        <c:crossBetween val="midCat"/>
        <c:majorUnit val="0.050000000000000024"/>
        <c:minorUnit val="0.010000000000000007"/>
      </c:valAx>
      <c:valAx>
        <c:axId val="92238592"/>
        <c:scaling>
          <c:orientation val="minMax"/>
          <c:max val="130"/>
          <c:min val="50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 sz="2000"/>
                </a:pPr>
                <a:r>
                  <a:rPr lang="en-US" sz="2000" b="1" i="1" baseline="0">
                    <a:effectLst/>
                    <a:latin typeface="Times New Roman" pitchFamily="18" charset="0"/>
                    <a:cs typeface="Times New Roman" pitchFamily="18" charset="0"/>
                  </a:rPr>
                  <a:t>T, ºC</a:t>
                </a:r>
                <a:endParaRPr lang="ru-RU" sz="2000">
                  <a:effectLst/>
                  <a:latin typeface="Times New Roman" pitchFamily="18" charset="0"/>
                  <a:cs typeface="Times New Roman" pitchFamily="18" charset="0"/>
                </a:endParaRPr>
              </a:p>
            </c:rich>
          </c:tx>
          <c:layout>
            <c:manualLayout>
              <c:xMode val="edge"/>
              <c:yMode val="edge"/>
              <c:x val="0.0063085052221579663"/>
              <c:y val="0.061788788284999417"/>
            </c:manualLayout>
          </c:layout>
          <c:overlay val="0"/>
        </c:title>
        <c:numFmt formatCode="General" sourceLinked="1"/>
        <c:majorTickMark val="out"/>
        <c:minorTickMark val="out"/>
        <c:tickLblPos val="nextTo"/>
        <c:crossAx val="92231936"/>
        <c:crosses val="autoZero"/>
        <c:crossBetween val="midCat"/>
        <c:majorUnit val="10"/>
        <c:minorUnit val="1"/>
      </c:valAx>
    </c:plotArea>
    <c:legend>
      <c:legendPos val="r"/>
      <c:layout>
        <c:manualLayout>
          <c:xMode val="edge"/>
          <c:yMode val="edge"/>
          <c:x val="0.16723611111111139"/>
          <c:y val="0.057153703703703734"/>
          <c:w val="0.50644722222222227"/>
          <c:h val="0.26937777777777855"/>
        </c:manualLayout>
      </c:layout>
      <c:overlay val="1"/>
      <c:spPr>
        <a:solidFill>
          <a:schemeClr val="bg1"/>
        </a:solidFill>
        <a:ln>
          <a:solidFill>
            <a:schemeClr val="tx1"/>
          </a:solidFill>
        </a:ln>
      </c:spPr>
    </c:legend>
    <c:plotVisOnly val="1"/>
    <c:dispBlanksAs val="gap"/>
    <c:showDLblsOverMax val="0"/>
  </c:chart>
  <c:txPr>
    <a:bodyPr/>
    <a:lstStyle/>
    <a:p>
      <a:pPr>
        <a:defRPr sz="1400">
          <a:latin typeface="Times New Roman" pitchFamily="18" charset="0"/>
          <a:cs typeface="Times New Roman" pitchFamily="18" charset="0"/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BBEB9-C98D-471D-A8A2-9BA50223B9CC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5CCAD-EEA5-45C3-961A-425002B167B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</a:t>
            </a:r>
            <a:r>
              <a:rPr lang="ru-RU" baseline="0" dirty="0" smtClean="0"/>
              <a:t> сегодняшний день, одной из важных задач ракетно-космической отрасли является обоснованное продление сроков хранения и эксплуатации спускаемых летательных аппаратов.</a:t>
            </a:r>
          </a:p>
          <a:p>
            <a:r>
              <a:rPr lang="ru-RU" baseline="0" dirty="0" smtClean="0"/>
              <a:t>В данной работе рассмотрен один аспект этой задачи - процесс изменения теплофизических характеристик, таких как теплопроводность, теплоемкость и плотность со временем. Нас интересует, имеют ли место такие изменения и как они сказываются на тепловом режиме ЛА в полете.</a:t>
            </a:r>
          </a:p>
          <a:p>
            <a:r>
              <a:rPr lang="ru-RU" baseline="0" dirty="0" smtClean="0"/>
              <a:t>Необходимость данной работы появилась в связи с уменьшением коэффициентов запаса, закладываемых в толщину ТЗП, увеличением тепловой нагрузки на ЛА на траекториях спуска, а также в связи с появлением рекомендаций ведущих отраслевых НИИ о необходимости экспериментального и численного исследования данного феномена.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 smtClean="0"/>
              <a:t>Первая задача состояла в</a:t>
            </a:r>
            <a:r>
              <a:rPr lang="ru-RU" baseline="0" dirty="0" smtClean="0"/>
              <a:t> определении влияния старения на изменение ТФХ материалов. Для этого были собраны данные по измерению ТФХ материалов, состаренных естественным путем, при эксплуатации в составе спускаемых ЛА.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На слайде показана сводная таблица по материалам, характерным для спускаемых ЛА: наклеиваемые материалы на угольной основе, фторопласт, напыляемый теплозащитный материал и теплоизоляционный высокотемпературный материал. Приведены максимальные отклонения (в худшую сторону) от номинальных значений и, для наглядности, изменение коэффициента температуропроводности. В качестве номинальных значений здесь и далее принимаются значения характеристик, приведенные в исходных данных на материал.</a:t>
            </a:r>
          </a:p>
          <a:p>
            <a:r>
              <a:rPr lang="ru-RU" baseline="0" dirty="0" smtClean="0"/>
              <a:t>Здесь для наглядности красным цветом выделено изменение характеристики в сторону, приводящую к увеличению температуры корпуса ЛА – деградации. Зелёным – изменение в лучшую сторону.</a:t>
            </a:r>
          </a:p>
          <a:p>
            <a:r>
              <a:rPr lang="ru-RU" baseline="0" dirty="0" smtClean="0"/>
              <a:t>Наибольшей деградации подвержены ТФХ материалов на угольной основе. Наихудший результат демонстрирует широко распространенный материал </a:t>
            </a:r>
            <a:r>
              <a:rPr lang="ru-RU" baseline="0" dirty="0" err="1" smtClean="0"/>
              <a:t>УП-Цт</a:t>
            </a:r>
            <a:r>
              <a:rPr lang="ru-RU" baseline="0" dirty="0" smtClean="0"/>
              <a:t>. Фторопласт и теплоизолятор имеют тенденцию к улучшению свойств.</a:t>
            </a:r>
          </a:p>
          <a:p>
            <a:r>
              <a:rPr lang="ru-RU" baseline="0" dirty="0" smtClean="0"/>
              <a:t>Можно отметить, что наиболее подверженной изменениям характеристикой является теплопроводность. Менее всего изменяется плотность. При этом изменение плотности во всех случаях находилось в рамках, определенных техническими условиями на материал.</a:t>
            </a:r>
          </a:p>
          <a:p>
            <a:r>
              <a:rPr lang="ru-RU" baseline="0" dirty="0" smtClean="0"/>
              <a:t>Ещё следует отметить, что данных оказалось недостаточно, чтобы отследить динамику изменения свойств материалов со временем.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Итак, имеет место деградация ТФХ внешнего слоя</a:t>
            </a:r>
            <a:r>
              <a:rPr lang="ru-RU" baseline="0" dirty="0" smtClean="0"/>
              <a:t> аблятора и некоторое улучшение ТФХ теплоизоляционного подслоя.</a:t>
            </a:r>
            <a:endParaRPr lang="ru-RU" dirty="0" smtClean="0"/>
          </a:p>
          <a:p>
            <a:r>
              <a:rPr lang="ru-RU" dirty="0" smtClean="0"/>
              <a:t>Следующим шагом было изучение влияния представленных выше изменений ТФХ на тепловой режим ЛА в полете.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Анализ изменения тепловых режимов корпуса спускаемого ЛА проводился</a:t>
            </a:r>
            <a:r>
              <a:rPr lang="ru-RU" baseline="0" dirty="0" smtClean="0"/>
              <a:t> путем прямого решения сопряженной задачи аэротермодинамики. Был использован программный комплекс инженерного расчета, решающий набор задач прогрева и уноса теплозащиты в одномерной постановке для получения </a:t>
            </a:r>
            <a:r>
              <a:rPr lang="ru-RU" baseline="0" dirty="0" err="1" smtClean="0"/>
              <a:t>псевдодвумерного</a:t>
            </a:r>
            <a:r>
              <a:rPr lang="ru-RU" baseline="0" dirty="0" smtClean="0"/>
              <a:t> решения.</a:t>
            </a:r>
          </a:p>
          <a:p>
            <a:r>
              <a:rPr lang="ru-RU" baseline="0" dirty="0" smtClean="0"/>
              <a:t>Расчет траектории спуска выполняется в приближении материальной точки с учетом изменения массы и формы тела в полете.</a:t>
            </a:r>
          </a:p>
          <a:p>
            <a:r>
              <a:rPr lang="ru-RU" baseline="0" dirty="0" smtClean="0"/>
              <a:t>Расчет траектории выполняется с использованием базы данных коэффициентов сопротивления для конусов стандартной формы.</a:t>
            </a:r>
          </a:p>
          <a:p>
            <a:r>
              <a:rPr lang="ru-RU" baseline="0" dirty="0" smtClean="0"/>
              <a:t>Тепловые потоки к поверхности тела рассчитываются методом эффективной длины с использованием базы данных коэффициентов давления для тонких конусов, затупленных по сфере.</a:t>
            </a:r>
          </a:p>
          <a:p>
            <a:r>
              <a:rPr lang="ru-RU" baseline="0" dirty="0" smtClean="0"/>
              <a:t>Данный программный комплекс прошел апробацию при анализе результатов летных испытаний спускаемых ЛА, проводимых «ОАО ГРЦ Макеева»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работе исследовалось тело в форме тонкого конуса, затупленного по сфере.</a:t>
            </a:r>
          </a:p>
          <a:p>
            <a:r>
              <a:rPr lang="ru-RU" dirty="0" smtClean="0"/>
              <a:t>Влияние деградации ТФХ</a:t>
            </a:r>
            <a:r>
              <a:rPr lang="ru-RU" baseline="0" dirty="0" smtClean="0"/>
              <a:t> отслеживалось на трех траекториях с параметрами входа в атмосферу: 6, 7 и </a:t>
            </a:r>
            <a:r>
              <a:rPr lang="en-US" baseline="0" dirty="0" smtClean="0"/>
              <a:t>&gt;7 </a:t>
            </a:r>
            <a:r>
              <a:rPr lang="ru-RU" baseline="0" dirty="0" smtClean="0"/>
              <a:t>км</a:t>
            </a:r>
            <a:r>
              <a:rPr lang="en-US" baseline="0" dirty="0" smtClean="0"/>
              <a:t>/c</a:t>
            </a:r>
            <a:r>
              <a:rPr lang="ru-RU" baseline="0" dirty="0" smtClean="0"/>
              <a:t>.</a:t>
            </a:r>
          </a:p>
          <a:p>
            <a:r>
              <a:rPr lang="ru-RU" baseline="0" dirty="0" smtClean="0"/>
              <a:t>Для теплозащиты выбрана общепринятая схема для ЛА баллистического спуска из двух слоев материала:</a:t>
            </a:r>
          </a:p>
          <a:p>
            <a:r>
              <a:rPr lang="ru-RU" i="1" baseline="0" dirty="0" smtClean="0"/>
              <a:t>Наружный слой </a:t>
            </a:r>
            <a:r>
              <a:rPr lang="ru-RU" baseline="0" dirty="0" smtClean="0"/>
              <a:t>- 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углепластиковый материал «аблятор» для снижения тепловых потоков к нижележащим слоям за счет поглощения тепла в процессе теплового разрушения материала. В качестве аблятора принимается материал </a:t>
            </a:r>
            <a:r>
              <a:rPr lang="ru-RU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УП-Цт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Теплоизолирующий подслой</a:t>
            </a:r>
            <a:r>
              <a:rPr lang="ru-RU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обеспечения допустимых температурных режимов корпуса ЛА</a:t>
            </a:r>
          </a:p>
          <a:p>
            <a:r>
              <a:rPr lang="ru-RU" sz="12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Толщины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слоев ТЗП выбирались для каждой траектории индивидуально по следующим правилам:</a:t>
            </a:r>
          </a:p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В течение всего полета температура корпуса ЛА не превосходит некоторой характерной допустимой температуры.</a:t>
            </a:r>
          </a:p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Величина уноса материала с поверхности не превышает 85% от толщины аблятора к концу полета.</a:t>
            </a:r>
          </a:p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 В течение всего полета температура теплоизоляционного подслоя не превышает температуры его разрушения.</a:t>
            </a:r>
          </a:p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Оптимизация толщины ТЗП в соответствии с данными правилами выполнялась в серии расчетов.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baseline="0" dirty="0" smtClean="0"/>
              <a:t>На этом и следующем слайде показано изменение температуры корпуса ЛА на траектории спуска. По оси абсцисс откладывается момент времени полёта, отнесённый к длительности полёта. По оси ординат откладывается температура корпуса ЛА.</a:t>
            </a:r>
          </a:p>
          <a:p>
            <a:r>
              <a:rPr lang="ru-RU" baseline="0" dirty="0" smtClean="0"/>
              <a:t>Расчет выполнен для трёх вариантов ТФХ теплозащиты:</a:t>
            </a:r>
          </a:p>
          <a:p>
            <a:r>
              <a:rPr lang="ru-RU" i="1" baseline="0" dirty="0" smtClean="0"/>
              <a:t>Номинал</a:t>
            </a:r>
            <a:r>
              <a:rPr lang="ru-RU" baseline="0" dirty="0" smtClean="0"/>
              <a:t> – ТФХ принимаются в соответствии с исходными данными, т.е. без учёта деградации.</a:t>
            </a:r>
          </a:p>
          <a:p>
            <a:r>
              <a:rPr lang="ru-RU" i="1" baseline="0" dirty="0" smtClean="0"/>
              <a:t>Эксперимент</a:t>
            </a:r>
            <a:r>
              <a:rPr lang="ru-RU" baseline="0" dirty="0" smtClean="0"/>
              <a:t> – ТФХ принимаются в соответствии с наихудшим случаем деградации материала </a:t>
            </a:r>
            <a:r>
              <a:rPr lang="ru-RU" baseline="0" dirty="0" err="1" smtClean="0"/>
              <a:t>УП-Цт</a:t>
            </a:r>
            <a:r>
              <a:rPr lang="ru-RU" baseline="0" dirty="0" smtClean="0"/>
              <a:t>, приведенным в таблице ранее.</a:t>
            </a:r>
          </a:p>
          <a:p>
            <a:r>
              <a:rPr lang="ru-RU" i="1" baseline="0" dirty="0" smtClean="0"/>
              <a:t>Деградация на 10%</a:t>
            </a:r>
            <a:r>
              <a:rPr lang="ru-RU" baseline="0" dirty="0" smtClean="0"/>
              <a:t> - ТФХ каждого материала ТЗП искусственно деградируют на 10% от номинала. Последний вариант приведен для сравнения и соответствует допустимым колебаниям ТФХ по техническим условиям.</a:t>
            </a:r>
          </a:p>
          <a:p>
            <a:r>
              <a:rPr lang="ru-RU" baseline="0" dirty="0" smtClean="0"/>
              <a:t>Можно заметить следующее:</a:t>
            </a:r>
          </a:p>
          <a:p>
            <a:r>
              <a:rPr lang="ru-RU" baseline="0" dirty="0" smtClean="0"/>
              <a:t>Изменение температуры к концу полёта достигает 150-170 градусов в сравнении с номиналом.</a:t>
            </a:r>
          </a:p>
          <a:p>
            <a:r>
              <a:rPr lang="ru-RU" baseline="0" dirty="0" smtClean="0"/>
              <a:t>Разница между температурой ЛА в конце полёта для варианта «Эксперимент» и «Деградация на 10%» составляет 50 град. для наименее теплонапряженной траектории, 30 град. для промежуточной траектории и -10град для наиболее теплонапряженной траектории. Это говорит о том, что вклад теплопроводности, теплоемкости и плотности в тепловой режим ЛА для разных условий входа различен.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Коэффициент</a:t>
            </a:r>
            <a:r>
              <a:rPr lang="ru-RU" baseline="0" dirty="0" smtClean="0"/>
              <a:t> запаса составил 20% толщины аблятора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следующей серии расчетов теплопроводность, теплоемкость и плотность слоя аблятора подвергались искусственной деградации.</a:t>
            </a:r>
          </a:p>
          <a:p>
            <a:r>
              <a:rPr lang="ru-RU" dirty="0" smtClean="0"/>
              <a:t>На</a:t>
            </a:r>
            <a:r>
              <a:rPr lang="ru-RU" baseline="0" dirty="0" smtClean="0"/>
              <a:t> графиках представлены результаты расчета температуры ЛА для пяти расчетных случаев: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Расчет с ТФХ, принятыми в соответствии с номиналом.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Теплопроводность искусственно деградирует на 10%.</a:t>
            </a:r>
          </a:p>
          <a:p>
            <a:pPr marL="228600" indent="-228600">
              <a:buAutoNum type="arabicParenR"/>
            </a:pPr>
            <a:r>
              <a:rPr lang="ru-RU" dirty="0" smtClean="0"/>
              <a:t>Теплоемкость </a:t>
            </a:r>
            <a:r>
              <a:rPr lang="ru-RU" baseline="0" dirty="0" smtClean="0"/>
              <a:t>искусственно деградирует на 10%.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Плотность искусственно деградирует на 10%.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Все ТФХ деградируют на 10% в сравнении с номиналом.</a:t>
            </a:r>
          </a:p>
          <a:p>
            <a:pPr marL="228600" indent="-228600">
              <a:buAutoNum type="arabicParenR"/>
            </a:pPr>
            <a:endParaRPr lang="ru-RU" baseline="0" dirty="0" smtClean="0"/>
          </a:p>
          <a:p>
            <a:pPr marL="228600" indent="-228600">
              <a:buNone/>
            </a:pPr>
            <a:r>
              <a:rPr lang="ru-RU" baseline="0" dirty="0" smtClean="0"/>
              <a:t>Здесь можно отметить следующее:</a:t>
            </a:r>
          </a:p>
          <a:p>
            <a:pPr marL="228600" indent="-228600">
              <a:buNone/>
            </a:pPr>
            <a:r>
              <a:rPr lang="ru-RU" baseline="0" dirty="0" smtClean="0"/>
              <a:t>Деградация плотности вносит наибольший вклад в увеличение температуры корпуса ЛА. Теплопроводность вносит наименьший вклад.</a:t>
            </a:r>
          </a:p>
          <a:p>
            <a:pPr marL="228600" indent="-228600">
              <a:buNone/>
            </a:pPr>
            <a:r>
              <a:rPr lang="ru-RU" baseline="0" dirty="0" smtClean="0"/>
              <a:t>Вклад плотности существенно возрастает с увеличением тепловой напряженности траектории.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-228600">
              <a:buNone/>
            </a:pPr>
            <a:r>
              <a:rPr lang="ru-RU" baseline="0" dirty="0" smtClean="0"/>
              <a:t>Итак, установлено, что при длительных сроках хранения и наземной эксплуатации ЛА необходимо периодически выполнять контроль изменения ТФХ. Коэффициент запаса для материала УП-ЦТ составил 20% для наихудшего варианта старения.</a:t>
            </a:r>
          </a:p>
          <a:p>
            <a:pPr marL="0" indent="-228600">
              <a:buNone/>
            </a:pPr>
            <a:r>
              <a:rPr lang="ru-RU" baseline="0" dirty="0" smtClean="0"/>
              <a:t>Следующей задачей было создание критерия, по которому можно принимать решение о допустимости изменения ТФХ.</a:t>
            </a:r>
          </a:p>
          <a:p>
            <a:r>
              <a:rPr lang="ru-RU" dirty="0" smtClean="0"/>
              <a:t>Данный критерий был построен на понятии эквивалентной</a:t>
            </a:r>
            <a:r>
              <a:rPr lang="ru-RU" baseline="0" dirty="0" smtClean="0"/>
              <a:t> тепловой модели.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</a:t>
            </a:r>
            <a:r>
              <a:rPr lang="ru-RU" baseline="0" dirty="0" smtClean="0"/>
              <a:t> результатам многочисленных расчетов д</a:t>
            </a:r>
            <a:r>
              <a:rPr lang="ru-RU" dirty="0" smtClean="0"/>
              <a:t>ля задачи теплопроводности с уносом была разработана </a:t>
            </a:r>
            <a:r>
              <a:rPr lang="ru-RU" baseline="0" dirty="0" smtClean="0"/>
              <a:t>модель эквивалентности, показанная на слайде.</a:t>
            </a:r>
          </a:p>
          <a:p>
            <a:r>
              <a:rPr lang="ru-RU" baseline="0" dirty="0" smtClean="0"/>
              <a:t>Здесь 1-ое и 2-ое уравнения сверху представляют собой критерии </a:t>
            </a:r>
            <a:r>
              <a:rPr lang="ru-RU" baseline="0" dirty="0" err="1" smtClean="0"/>
              <a:t>Био</a:t>
            </a:r>
            <a:r>
              <a:rPr lang="ru-RU" baseline="0" dirty="0" smtClean="0"/>
              <a:t> и Фурье из теории теплопроводности. С1 и С2 – коэффициент подобия.</a:t>
            </a:r>
          </a:p>
          <a:p>
            <a:r>
              <a:rPr lang="ru-RU" baseline="0" dirty="0" smtClean="0"/>
              <a:t>Третье уравнение получено эмпирическим путем и выражает зависимость величины уноса от плотности и теплоемкости. Оно ограничивает область применения данной модели гиперзвуковыми ЛА, движущимися по баллистической траектории с малыми углами атаки.</a:t>
            </a:r>
            <a:endParaRPr lang="en-US" baseline="0" dirty="0" smtClean="0"/>
          </a:p>
          <a:p>
            <a:r>
              <a:rPr lang="ru-RU" baseline="0" dirty="0" smtClean="0"/>
              <a:t>Здесь показатель степени </a:t>
            </a:r>
            <a:r>
              <a:rPr lang="en-US" baseline="0" dirty="0" smtClean="0"/>
              <a:t>m </a:t>
            </a:r>
            <a:r>
              <a:rPr lang="ru-RU" baseline="0" dirty="0" smtClean="0"/>
              <a:t>зависит от материала внешнего слоя ТЗП. Для материала УП-</a:t>
            </a:r>
            <a:r>
              <a:rPr lang="ru-RU" baseline="0" dirty="0" err="1" smtClean="0"/>
              <a:t>Цт</a:t>
            </a:r>
            <a:r>
              <a:rPr lang="ru-RU" baseline="0" dirty="0" smtClean="0"/>
              <a:t> </a:t>
            </a:r>
            <a:r>
              <a:rPr lang="en-US" baseline="0" dirty="0" smtClean="0"/>
              <a:t>m=0.0815</a:t>
            </a:r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Можно утверждать следующее:</a:t>
            </a:r>
          </a:p>
          <a:p>
            <a:r>
              <a:rPr lang="ru-RU" baseline="0" dirty="0" smtClean="0"/>
              <a:t>Пусть для спускаемого ЛА по двухслойной схеме описанной выше были подобраны два пакета ТЗП с различными ТФХ.</a:t>
            </a:r>
          </a:p>
          <a:p>
            <a:r>
              <a:rPr lang="ru-RU" baseline="0" dirty="0" smtClean="0"/>
              <a:t>Тогда, если коэффициент </a:t>
            </a:r>
            <a:r>
              <a:rPr lang="en-US" baseline="0" dirty="0" smtClean="0"/>
              <a:t>C1</a:t>
            </a:r>
            <a:r>
              <a:rPr lang="ru-RU" baseline="0" dirty="0" smtClean="0"/>
              <a:t> для варианта ТЗП 1 превосходит значение коэффициента </a:t>
            </a:r>
            <a:r>
              <a:rPr lang="en-US" baseline="0" dirty="0" smtClean="0"/>
              <a:t>C1 </a:t>
            </a:r>
            <a:r>
              <a:rPr lang="ru-RU" baseline="0" dirty="0" smtClean="0"/>
              <a:t>для вариант ТЗП №2, </a:t>
            </a:r>
            <a:r>
              <a:rPr lang="en-US" baseline="0" dirty="0" smtClean="0"/>
              <a:t> </a:t>
            </a:r>
            <a:r>
              <a:rPr lang="ru-RU" baseline="0" dirty="0" smtClean="0"/>
              <a:t>и коэффициент </a:t>
            </a:r>
            <a:r>
              <a:rPr lang="en-US" baseline="0" dirty="0" smtClean="0"/>
              <a:t>C</a:t>
            </a:r>
            <a:r>
              <a:rPr lang="ru-RU" baseline="0" dirty="0" smtClean="0"/>
              <a:t>2 для варианта ТЗП 1 превосходит значение коэффициента </a:t>
            </a:r>
            <a:r>
              <a:rPr lang="en-US" baseline="0" dirty="0" smtClean="0"/>
              <a:t>C</a:t>
            </a:r>
            <a:r>
              <a:rPr lang="ru-RU" baseline="0" dirty="0" smtClean="0"/>
              <a:t>2</a:t>
            </a:r>
            <a:r>
              <a:rPr lang="en-US" baseline="0" dirty="0" smtClean="0"/>
              <a:t> </a:t>
            </a:r>
            <a:r>
              <a:rPr lang="ru-RU" baseline="0" dirty="0" smtClean="0"/>
              <a:t>для вариант ТЗП №2, то температура корпуса ЛА с ТЗП №1 будет превосходить температуру корпуса ЛА с ТЗП №2 на протяжении всего полёта.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 основе предложенной модели эквивалентности пакетов ТЗП предложен</a:t>
            </a:r>
            <a:r>
              <a:rPr lang="ru-RU" baseline="0" dirty="0" smtClean="0"/>
              <a:t>а следующая стратегия продления сроков эксплуатации.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заключение хочу суммировать результаты работы.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Работа направлена на разработку метода учета длительных сроков хранения и наземной эксплуатации при проектировании теплозащиты спускаемых ЛА,</a:t>
            </a:r>
            <a:r>
              <a:rPr lang="ru-RU" baseline="0" dirty="0" smtClean="0"/>
              <a:t> то есть учет эффекта старения материала.</a:t>
            </a:r>
          </a:p>
          <a:p>
            <a:r>
              <a:rPr lang="ru-RU" baseline="0" dirty="0" smtClean="0"/>
              <a:t>Основными задачами являются:</a:t>
            </a:r>
          </a:p>
          <a:p>
            <a:r>
              <a:rPr lang="ru-RU" sz="1200" dirty="0" smtClean="0"/>
              <a:t>- Оценка влияния процесса старения на ТФХ теплозащиты ЛА.</a:t>
            </a:r>
          </a:p>
          <a:p>
            <a:r>
              <a:rPr lang="ru-RU" sz="1200" dirty="0" smtClean="0"/>
              <a:t>- Анализ влияния процесса старения материала на тепловые режимы ЛА.</a:t>
            </a:r>
          </a:p>
          <a:p>
            <a:r>
              <a:rPr lang="ru-RU" sz="1200" dirty="0" smtClean="0"/>
              <a:t>- Расчет коэффициентов запаса толщины теплозащиты.</a:t>
            </a:r>
          </a:p>
          <a:p>
            <a:pPr>
              <a:buFontTx/>
              <a:buChar char="-"/>
            </a:pPr>
            <a:r>
              <a:rPr lang="ru-RU" sz="1200" dirty="0" smtClean="0"/>
              <a:t>Разработка критериев допустимого изменения характеристик теплозащиты.</a:t>
            </a:r>
          </a:p>
          <a:p>
            <a:pPr>
              <a:buFontTx/>
              <a:buChar char="-"/>
            </a:pPr>
            <a:r>
              <a:rPr lang="ru-RU" sz="1200" dirty="0" smtClean="0"/>
              <a:t>В данной</a:t>
            </a:r>
            <a:r>
              <a:rPr lang="ru-RU" sz="1200" baseline="0" dirty="0" smtClean="0"/>
              <a:t> работе предложенные задачи решаются применительно к ЛА в форме тонких конусов, затупленных по сфере, спускаемых в атмосфере по баллистическим траекториям.</a:t>
            </a:r>
            <a:endParaRPr lang="ru-RU" sz="120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</a:t>
            </a:r>
            <a:r>
              <a:rPr lang="ru-RU" baseline="0" dirty="0" smtClean="0"/>
              <a:t> данной серии расчетов исследовалось влияние возможной деградации теплоизоляционного подслоя на тепловой режим ЛА. Расчетные варианты аналогичны расчетным вариантам для аблятора : раздельная деградация теплопроводности, теплоемкости и плотности на 10%, совместная деградация на 10% всех ТФХ и расчет по номиналу.</a:t>
            </a:r>
          </a:p>
          <a:p>
            <a:r>
              <a:rPr lang="ru-RU" baseline="0" dirty="0" smtClean="0"/>
              <a:t>Здесь можно отметить следующее: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Все три характеристики вносят одинаковый вклад в тепловой режим, что объясняется отсутствием разрушения материала.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Деградация любой ТФХ подслоя теплоизоляции на 10% приводит к увеличению температуры корпуса на </a:t>
            </a:r>
            <a:r>
              <a:rPr lang="ru-RU" baseline="0" dirty="0" smtClean="0">
                <a:latin typeface="Times New Roman"/>
                <a:cs typeface="Times New Roman"/>
              </a:rPr>
              <a:t>≈</a:t>
            </a:r>
            <a:r>
              <a:rPr lang="ru-RU" baseline="0" dirty="0" smtClean="0"/>
              <a:t>8 градусов.</a:t>
            </a:r>
          </a:p>
          <a:p>
            <a:pPr marL="228600" indent="-228600">
              <a:buAutoNum type="arabicParenR"/>
            </a:pPr>
            <a:r>
              <a:rPr lang="ru-RU" baseline="0" dirty="0" smtClean="0"/>
              <a:t>Деградация ТФХ теплоизоляции подчиняется свойству аддитивности: ухудшение каждой характеристики на 10% эквивалентно деградации одной из характеристик на 30%.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5CCAD-EEA5-45C3-961A-425002B167B6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16.10.2012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 /><Relationship Id="rId4" Type="http://schemas.openxmlformats.org/officeDocument/2006/relationships/chart" Target="../charts/chart4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1714489"/>
            <a:ext cx="8858312" cy="3286148"/>
          </a:xfrm>
        </p:spPr>
        <p:txBody>
          <a:bodyPr/>
          <a:lstStyle/>
          <a:p>
            <a:r>
              <a:rPr lang="ru-RU" dirty="0" smtClean="0"/>
              <a:t>О влиянии процесса старения материалов теплозащиты на тепловые режимы спускаемых летательных аппаратов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" y="142852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/>
              <a:t>Отдел теплообмена и аэрогазодинамики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28992" y="5500702"/>
            <a:ext cx="2252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А.В. Лепихов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85800" y="1643050"/>
            <a:ext cx="7772400" cy="3643338"/>
          </a:xfrm>
        </p:spPr>
        <p:txBody>
          <a:bodyPr/>
          <a:lstStyle/>
          <a:p>
            <a:pPr algn="ctr"/>
            <a:r>
              <a:rPr lang="ru-RU" dirty="0" smtClean="0"/>
              <a:t>Изменение теплоёмкости, теплопроводности и плотности при естественном старении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85860"/>
          </a:xfrm>
        </p:spPr>
        <p:txBody>
          <a:bodyPr>
            <a:noAutofit/>
          </a:bodyPr>
          <a:lstStyle/>
          <a:p>
            <a:r>
              <a:rPr lang="ru-RU" sz="3600" dirty="0" smtClean="0"/>
              <a:t>Изменение ТФХ при естественном старении</a:t>
            </a:r>
            <a:endParaRPr lang="ru-RU" sz="3600" dirty="0"/>
          </a:p>
        </p:txBody>
      </p:sp>
      <p:graphicFrame>
        <p:nvGraphicFramePr>
          <p:cNvPr id="4" name="Таблица 3"/>
          <p:cNvGraphicFramePr>
            <a:graphicFrameLocks xmlns:a="http://schemas.openxmlformats.org/drawingml/2006/main" noGrp="1"/>
          </p:cNvGraphicFramePr>
          <p:nvPr/>
        </p:nvGraphicFramePr>
        <p:xfrm>
          <a:off x="250001" y="1428736"/>
          <a:ext cx="8643998" cy="4756489"/>
        </p:xfrm>
        <a:graphic>
          <a:graphicData uri="http://schemas.openxmlformats.org/drawingml/2006/table">
            <a:tbl>
              <a:tblPr/>
              <a:tblGrid>
                <a:gridCol w="2821801"/>
                <a:gridCol w="1178727"/>
                <a:gridCol w="1500198"/>
                <a:gridCol w="1643074"/>
                <a:gridCol w="1500198"/>
              </a:tblGrid>
              <a:tr h="1000132">
                <a:tc rowSpan="2"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М</a:t>
                      </a:r>
                      <a:r>
                        <a:rPr lang="ru-RU" sz="24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атериал</a:t>
                      </a:r>
                      <a:endParaRPr lang="ru-RU" sz="24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Максимальное отклонение,</a:t>
                      </a:r>
                      <a:br>
                        <a:rPr lang="ru-RU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</a:br>
                      <a:r>
                        <a:rPr lang="ru-RU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% от номинала</a:t>
                      </a:r>
                      <a:endParaRPr lang="ru-RU" sz="24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4294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600" b="1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λ</a:t>
                      </a:r>
                      <a:endParaRPr lang="ru-RU" sz="36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600" b="1" i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с</a:t>
                      </a:r>
                      <a:endParaRPr lang="ru-RU" sz="36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600" b="1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ρ</a:t>
                      </a:r>
                      <a:endParaRPr lang="ru-RU" sz="36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3600" b="1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endParaRPr lang="ru-RU" sz="36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2683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24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УП-ЦТ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+61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-23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-6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+110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22683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24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ПКТ-ЦТ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+28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-12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-4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+25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22683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Фторопласт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-16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-3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+18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-2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22683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Calibri"/>
                        </a:rPr>
                        <a:t>ТТПС-П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Calibri"/>
                        </a:rPr>
                        <a:t>+13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Calibri"/>
                        </a:rPr>
                        <a:t>-14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Calibri"/>
                        </a:rPr>
                        <a:t>-5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Calibri"/>
                        </a:rPr>
                        <a:t>+9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22683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24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ОП-56379Н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-18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+14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-4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32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-22</a:t>
                      </a:r>
                      <a:endParaRPr lang="ru-RU" sz="3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imes New Roman"/>
                        <a:ea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85800" y="1643050"/>
            <a:ext cx="7772400" cy="3643338"/>
          </a:xfrm>
        </p:spPr>
        <p:txBody>
          <a:bodyPr/>
          <a:lstStyle/>
          <a:p>
            <a:pPr algn="ctr"/>
            <a:r>
              <a:rPr lang="ru-RU" dirty="0" smtClean="0"/>
              <a:t>ВЛИЯНИЕ Изменений теплоёмкости, теплопроводности и плотности на тепловой режим ЛА в полете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Расчетный инструментарий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000108"/>
            <a:ext cx="8715436" cy="5857892"/>
          </a:xfrm>
        </p:spPr>
        <p:txBody>
          <a:bodyPr/>
          <a:lstStyle/>
          <a:p>
            <a:r>
              <a:rPr lang="ru-RU" dirty="0" smtClean="0"/>
              <a:t>Численный </a:t>
            </a:r>
            <a:r>
              <a:rPr lang="en-US" dirty="0" smtClean="0"/>
              <a:t>1D</a:t>
            </a:r>
            <a:r>
              <a:rPr lang="ru-RU" dirty="0" smtClean="0"/>
              <a:t>-расчет теплообмена и уносов теплозащиты</a:t>
            </a:r>
          </a:p>
          <a:p>
            <a:r>
              <a:rPr lang="ru-RU" dirty="0" smtClean="0"/>
              <a:t>Расчет траектории спуска в приближении материальной точки с учетом уносов</a:t>
            </a:r>
            <a:r>
              <a:rPr lang="en-US" dirty="0" smtClean="0"/>
              <a:t> </a:t>
            </a:r>
            <a:r>
              <a:rPr lang="ru-RU" dirty="0" smtClean="0"/>
              <a:t>теплозащиты</a:t>
            </a:r>
          </a:p>
          <a:p>
            <a:r>
              <a:rPr lang="ru-RU" dirty="0" smtClean="0"/>
              <a:t>База данных коэффициентов </a:t>
            </a:r>
            <a:r>
              <a:rPr lang="en-US" i="1" dirty="0" err="1" smtClean="0"/>
              <a:t>C</a:t>
            </a:r>
            <a:r>
              <a:rPr lang="en-US" i="1" baseline="-25000" dirty="0" err="1" smtClean="0"/>
              <a:t>x</a:t>
            </a:r>
            <a:r>
              <a:rPr lang="en-US" dirty="0" smtClean="0"/>
              <a:t> </a:t>
            </a:r>
            <a:r>
              <a:rPr lang="ru-RU" dirty="0" smtClean="0"/>
              <a:t>для тонких конусов, затупленных по сфере</a:t>
            </a:r>
          </a:p>
          <a:p>
            <a:r>
              <a:rPr lang="ru-RU" dirty="0" smtClean="0"/>
              <a:t>База данных коэффициентов давления </a:t>
            </a:r>
            <a:r>
              <a:rPr lang="en-US" i="1" dirty="0" smtClean="0"/>
              <a:t>P/P</a:t>
            </a:r>
            <a:r>
              <a:rPr lang="en-US" b="1" i="1" dirty="0" smtClean="0">
                <a:cs typeface="Times New Roman"/>
              </a:rPr>
              <a:t>´</a:t>
            </a:r>
            <a:r>
              <a:rPr lang="en-US" i="1" baseline="-25000" dirty="0" smtClean="0"/>
              <a:t>0</a:t>
            </a:r>
            <a:r>
              <a:rPr lang="en-US" dirty="0" smtClean="0"/>
              <a:t> </a:t>
            </a:r>
            <a:r>
              <a:rPr lang="ru-RU" dirty="0" smtClean="0"/>
              <a:t>для тонких конусов, затупленных по сфере</a:t>
            </a:r>
          </a:p>
          <a:p>
            <a:r>
              <a:rPr lang="ru-RU" dirty="0" smtClean="0"/>
              <a:t>Апробация по результатам многочисленных летных испытаний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Условия расчета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14876" y="1142984"/>
            <a:ext cx="4429124" cy="2357454"/>
          </a:xfrm>
        </p:spPr>
        <p:txBody>
          <a:bodyPr/>
          <a:lstStyle/>
          <a:p>
            <a:pPr>
              <a:buNone/>
            </a:pPr>
            <a:r>
              <a:rPr lang="ru-RU" sz="2400" dirty="0" smtClean="0"/>
              <a:t>Параметры входа в атмосферу:</a:t>
            </a:r>
          </a:p>
          <a:p>
            <a:r>
              <a:rPr lang="en-US" i="1" dirty="0" smtClean="0"/>
              <a:t>V</a:t>
            </a:r>
            <a:r>
              <a:rPr lang="ru-RU" i="1" baseline="-25000" dirty="0" err="1" smtClean="0"/>
              <a:t>вх</a:t>
            </a:r>
            <a:r>
              <a:rPr lang="en-US" dirty="0" smtClean="0">
                <a:latin typeface="Times New Roman"/>
                <a:cs typeface="Times New Roman"/>
              </a:rPr>
              <a:t>≈6 </a:t>
            </a:r>
            <a:r>
              <a:rPr lang="ru-RU" dirty="0" smtClean="0">
                <a:latin typeface="Times New Roman"/>
                <a:cs typeface="Times New Roman"/>
              </a:rPr>
              <a:t>км</a:t>
            </a:r>
            <a:r>
              <a:rPr lang="en-US" dirty="0" smtClean="0">
                <a:latin typeface="Times New Roman"/>
                <a:cs typeface="Times New Roman"/>
              </a:rPr>
              <a:t>/</a:t>
            </a:r>
            <a:r>
              <a:rPr lang="ru-RU" dirty="0" smtClean="0">
                <a:latin typeface="Times New Roman"/>
                <a:cs typeface="Times New Roman"/>
              </a:rPr>
              <a:t>с</a:t>
            </a:r>
            <a:r>
              <a:rPr lang="en-US" dirty="0" smtClean="0">
                <a:latin typeface="Times New Roman"/>
                <a:cs typeface="Times New Roman"/>
              </a:rPr>
              <a:t>, </a:t>
            </a:r>
            <a:r>
              <a:rPr lang="el-GR" i="1" dirty="0" smtClean="0">
                <a:latin typeface="Times New Roman"/>
                <a:cs typeface="Times New Roman"/>
              </a:rPr>
              <a:t>θ</a:t>
            </a:r>
            <a:r>
              <a:rPr lang="ru-RU" i="1" baseline="-25000" dirty="0" smtClean="0"/>
              <a:t> </a:t>
            </a:r>
            <a:r>
              <a:rPr lang="ru-RU" i="1" baseline="-25000" dirty="0" err="1" smtClean="0"/>
              <a:t>вх</a:t>
            </a:r>
            <a:r>
              <a:rPr lang="en-US" i="1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= 35º</a:t>
            </a:r>
          </a:p>
          <a:p>
            <a:r>
              <a:rPr lang="en-US" i="1" dirty="0" smtClean="0"/>
              <a:t>V</a:t>
            </a:r>
            <a:r>
              <a:rPr lang="ru-RU" i="1" baseline="-25000" dirty="0" smtClean="0"/>
              <a:t> </a:t>
            </a:r>
            <a:r>
              <a:rPr lang="ru-RU" i="1" baseline="-25000" dirty="0" err="1" smtClean="0"/>
              <a:t>вх</a:t>
            </a:r>
            <a:r>
              <a:rPr lang="ru-RU" i="1" baseline="-25000" dirty="0" smtClean="0"/>
              <a:t> </a:t>
            </a:r>
            <a:r>
              <a:rPr lang="en-US" dirty="0" smtClean="0">
                <a:cs typeface="Times New Roman"/>
              </a:rPr>
              <a:t>≈7 </a:t>
            </a:r>
            <a:r>
              <a:rPr lang="ru-RU" dirty="0" smtClean="0">
                <a:cs typeface="Times New Roman"/>
              </a:rPr>
              <a:t>км</a:t>
            </a:r>
            <a:r>
              <a:rPr lang="en-US" dirty="0" smtClean="0">
                <a:cs typeface="Times New Roman"/>
              </a:rPr>
              <a:t>/</a:t>
            </a:r>
            <a:r>
              <a:rPr lang="ru-RU" dirty="0" smtClean="0">
                <a:cs typeface="Times New Roman"/>
              </a:rPr>
              <a:t>с</a:t>
            </a:r>
            <a:r>
              <a:rPr lang="en-US" dirty="0" smtClean="0">
                <a:cs typeface="Times New Roman"/>
              </a:rPr>
              <a:t>, </a:t>
            </a:r>
            <a:r>
              <a:rPr lang="el-GR" i="1" dirty="0" smtClean="0">
                <a:cs typeface="Times New Roman"/>
              </a:rPr>
              <a:t>θ</a:t>
            </a:r>
            <a:r>
              <a:rPr lang="ru-RU" i="1" baseline="-25000" dirty="0" smtClean="0"/>
              <a:t> </a:t>
            </a:r>
            <a:r>
              <a:rPr lang="ru-RU" i="1" baseline="-25000" dirty="0" err="1" smtClean="0"/>
              <a:t>вх</a:t>
            </a:r>
            <a:r>
              <a:rPr lang="en-US" i="1" dirty="0" smtClean="0">
                <a:cs typeface="Times New Roman"/>
              </a:rPr>
              <a:t> </a:t>
            </a:r>
            <a:r>
              <a:rPr lang="en-US" dirty="0" smtClean="0">
                <a:cs typeface="Times New Roman"/>
              </a:rPr>
              <a:t>= 25º</a:t>
            </a:r>
            <a:endParaRPr lang="ru-RU" dirty="0" smtClean="0"/>
          </a:p>
          <a:p>
            <a:r>
              <a:rPr lang="en-US" i="1" dirty="0" smtClean="0"/>
              <a:t>V</a:t>
            </a:r>
            <a:r>
              <a:rPr lang="ru-RU" i="1" baseline="-25000" dirty="0" smtClean="0"/>
              <a:t> </a:t>
            </a:r>
            <a:r>
              <a:rPr lang="ru-RU" i="1" baseline="-25000" dirty="0" err="1" smtClean="0"/>
              <a:t>вх</a:t>
            </a:r>
            <a:r>
              <a:rPr lang="ru-RU" i="1" baseline="-25000" dirty="0" smtClean="0"/>
              <a:t> </a:t>
            </a:r>
            <a:r>
              <a:rPr lang="en-US" dirty="0" smtClean="0">
                <a:cs typeface="Times New Roman"/>
              </a:rPr>
              <a:t>&gt;7 </a:t>
            </a:r>
            <a:r>
              <a:rPr lang="ru-RU" dirty="0" smtClean="0">
                <a:cs typeface="Times New Roman"/>
              </a:rPr>
              <a:t>км</a:t>
            </a:r>
            <a:r>
              <a:rPr lang="en-US" dirty="0" smtClean="0">
                <a:cs typeface="Times New Roman"/>
              </a:rPr>
              <a:t>/</a:t>
            </a:r>
            <a:r>
              <a:rPr lang="ru-RU" dirty="0" smtClean="0">
                <a:cs typeface="Times New Roman"/>
              </a:rPr>
              <a:t>с</a:t>
            </a:r>
            <a:r>
              <a:rPr lang="en-US" dirty="0" smtClean="0">
                <a:cs typeface="Times New Roman"/>
              </a:rPr>
              <a:t>, </a:t>
            </a:r>
            <a:r>
              <a:rPr lang="el-GR" i="1" dirty="0" smtClean="0">
                <a:cs typeface="Times New Roman"/>
              </a:rPr>
              <a:t>θ</a:t>
            </a:r>
            <a:r>
              <a:rPr lang="ru-RU" i="1" baseline="-25000" dirty="0" smtClean="0"/>
              <a:t> </a:t>
            </a:r>
            <a:r>
              <a:rPr lang="ru-RU" i="1" baseline="-25000" dirty="0" err="1" smtClean="0"/>
              <a:t>вх</a:t>
            </a:r>
            <a:r>
              <a:rPr lang="en-US" i="1" dirty="0" smtClean="0">
                <a:cs typeface="Times New Roman"/>
              </a:rPr>
              <a:t> </a:t>
            </a:r>
            <a:r>
              <a:rPr lang="en-US" dirty="0" smtClean="0">
                <a:cs typeface="Times New Roman"/>
              </a:rPr>
              <a:t>&lt; 20º</a:t>
            </a:r>
            <a:endParaRPr lang="ru-RU" dirty="0" smtClean="0"/>
          </a:p>
        </p:txBody>
      </p:sp>
      <p:sp>
        <p:nvSpPr>
          <p:cNvPr id="4" name="Содержимое 2"/>
          <p:cNvSpPr txBox="1"/>
          <p:nvPr/>
        </p:nvSpPr>
        <p:spPr>
          <a:xfrm>
            <a:off x="4786314" y="3857628"/>
            <a:ext cx="4357686" cy="2786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defRPr/>
            </a:pPr>
            <a:r>
              <a:rPr lang="ru-RU" sz="2400" dirty="0" smtClean="0"/>
              <a:t>Правила оптимизации пакета теплозащиты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i="1" dirty="0" smtClean="0"/>
              <a:t>T</a:t>
            </a:r>
            <a:r>
              <a:rPr lang="ru-RU" sz="3200" i="1" baseline="-25000" dirty="0" smtClean="0"/>
              <a:t>мет</a:t>
            </a:r>
            <a:r>
              <a:rPr lang="ru-RU" sz="3200" dirty="0" smtClean="0"/>
              <a:t> </a:t>
            </a:r>
            <a:r>
              <a:rPr lang="en-US" sz="3200" dirty="0" smtClean="0"/>
              <a:t>&lt; </a:t>
            </a:r>
            <a:r>
              <a:rPr lang="en-US" sz="3200" i="1" dirty="0" smtClean="0"/>
              <a:t>T</a:t>
            </a:r>
            <a:r>
              <a:rPr lang="ru-RU" sz="3200" i="1" baseline="-25000" dirty="0" err="1" smtClean="0"/>
              <a:t>доп</a:t>
            </a:r>
            <a:endParaRPr lang="ru-RU" sz="3200" i="1" baseline="-25000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l-GR" sz="3200" i="1" dirty="0" smtClean="0"/>
              <a:t>δ</a:t>
            </a:r>
            <a:r>
              <a:rPr lang="ru-RU" sz="3200" i="1" baseline="-25000" dirty="0" smtClean="0"/>
              <a:t>уноса</a:t>
            </a:r>
            <a:r>
              <a:rPr lang="ru-RU" sz="3200" dirty="0" smtClean="0"/>
              <a:t> </a:t>
            </a:r>
            <a:r>
              <a:rPr lang="en-US" sz="3200" dirty="0" smtClean="0"/>
              <a:t>&lt;</a:t>
            </a:r>
            <a:r>
              <a:rPr lang="ru-RU" sz="3200" dirty="0" smtClean="0"/>
              <a:t> 85%</a:t>
            </a:r>
            <a:endParaRPr lang="ru-RU" sz="3200" baseline="-25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defRPr/>
            </a:pPr>
            <a:r>
              <a:rPr lang="en-US" sz="3200" i="1" dirty="0" smtClean="0"/>
              <a:t>T</a:t>
            </a:r>
            <a:r>
              <a:rPr lang="ru-RU" sz="3200" i="1" baseline="-25000" dirty="0" smtClean="0"/>
              <a:t>ТИ</a:t>
            </a:r>
            <a:r>
              <a:rPr lang="ru-RU" sz="3200" dirty="0" smtClean="0"/>
              <a:t> </a:t>
            </a:r>
            <a:r>
              <a:rPr lang="en-US" sz="3200" dirty="0" smtClean="0"/>
              <a:t>&lt; </a:t>
            </a:r>
            <a:r>
              <a:rPr lang="en-US" sz="3200" i="1" dirty="0" smtClean="0"/>
              <a:t>T</a:t>
            </a:r>
            <a:r>
              <a:rPr lang="ru-RU" sz="3200" i="1" baseline="-25000" dirty="0" err="1" smtClean="0"/>
              <a:t>разр</a:t>
            </a:r>
            <a:endParaRPr lang="ru-RU" sz="3200" i="1" baseline="-25000" dirty="0" smtClean="0"/>
          </a:p>
        </p:txBody>
      </p:sp>
      <p:pic>
        <p:nvPicPr>
          <p:cNvPr id="5" name="Рисунок 4" descr="Note.jp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9436" y="1571612"/>
            <a:ext cx="3845374" cy="1428760"/>
          </a:xfrm>
          <a:prstGeom prst="rect">
            <a:avLst/>
          </a:prstGeom>
        </p:spPr>
      </p:pic>
      <p:cxnSp>
        <p:nvCxnSpPr>
          <p:cNvPr id="7" name="Прямая со стрелкой 6"/>
          <p:cNvCxnSpPr>
            <a:cxnSpLocks/>
          </p:cNvCxnSpPr>
          <p:nvPr/>
        </p:nvCxnSpPr>
        <p:spPr>
          <a:xfrm rot="10800000">
            <a:off x="655191" y="2428868"/>
            <a:ext cx="555041" cy="529746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cxnSpLocks/>
          </p:cNvCxnSpPr>
          <p:nvPr/>
        </p:nvCxnSpPr>
        <p:spPr>
          <a:xfrm>
            <a:off x="2069880" y="2085746"/>
            <a:ext cx="9150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012642" y="1752890"/>
            <a:ext cx="56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smtClean="0">
                <a:cs typeface="Times New Roman"/>
              </a:rPr>
              <a:t>к</a:t>
            </a:r>
            <a:endParaRPr lang="ru-RU" i="1" baseline="-250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012378" y="2357430"/>
            <a:ext cx="571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cs typeface="Times New Roman"/>
              </a:rPr>
              <a:t>R</a:t>
            </a:r>
            <a:r>
              <a:rPr lang="en-US" sz="2400" i="1" baseline="-25000" dirty="0" smtClean="0">
                <a:cs typeface="Times New Roman"/>
              </a:rPr>
              <a:t>0</a:t>
            </a:r>
            <a:endParaRPr lang="ru-RU" i="1" baseline="-25000" dirty="0"/>
          </a:p>
        </p:txBody>
      </p:sp>
      <p:sp>
        <p:nvSpPr>
          <p:cNvPr id="23" name="Полилиния 22"/>
          <p:cNvSpPr/>
          <p:nvPr/>
        </p:nvSpPr>
        <p:spPr>
          <a:xfrm>
            <a:off x="2743856" y="1917692"/>
            <a:ext cx="82060" cy="169995"/>
          </a:xfrm>
          <a:custGeom>
            <a:avLst/>
            <a:gdLst>
              <a:gd name="connsiteX0" fmla="*/ 157162 w 179387"/>
              <a:gd name="connsiteY0" fmla="*/ 296862 h 296862"/>
              <a:gd name="connsiteX1" fmla="*/ 157162 w 179387"/>
              <a:gd name="connsiteY1" fmla="*/ 144462 h 296862"/>
              <a:gd name="connsiteX2" fmla="*/ 23812 w 179387"/>
              <a:gd name="connsiteY2" fmla="*/ 20637 h 296862"/>
              <a:gd name="connsiteX3" fmla="*/ 14287 w 179387"/>
              <a:gd name="connsiteY3" fmla="*/ 20637 h 296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387" h="296862">
                <a:moveTo>
                  <a:pt x="157162" y="296862"/>
                </a:moveTo>
                <a:cubicBezTo>
                  <a:pt x="168274" y="243680"/>
                  <a:pt x="179387" y="190499"/>
                  <a:pt x="157162" y="144462"/>
                </a:cubicBezTo>
                <a:cubicBezTo>
                  <a:pt x="134937" y="98425"/>
                  <a:pt x="47624" y="41274"/>
                  <a:pt x="23812" y="20637"/>
                </a:cubicBezTo>
                <a:cubicBezTo>
                  <a:pt x="0" y="0"/>
                  <a:pt x="7143" y="10318"/>
                  <a:pt x="14287" y="20637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3428992" y="4214818"/>
            <a:ext cx="785818" cy="1214446"/>
          </a:xfrm>
          <a:prstGeom prst="rect">
            <a:avLst/>
          </a:prstGeom>
          <a:blipFill>
            <a:blip r:embed="rId4"/>
            <a:tile algn="tl" flip="none" sx="100000" sy="100000" tx="0" ty="0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428992" y="5429264"/>
            <a:ext cx="785818" cy="428628"/>
          </a:xfrm>
          <a:prstGeom prst="rect">
            <a:avLst/>
          </a:prstGeom>
          <a:blipFill>
            <a:blip r:embed="rId5"/>
            <a:tile algn="tl" flip="none" sx="100000" sy="100000" tx="0" ty="0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3428992" y="5857892"/>
            <a:ext cx="785818" cy="928694"/>
          </a:xfrm>
          <a:prstGeom prst="rect">
            <a:avLst/>
          </a:prstGeom>
          <a:blipFill>
            <a:blip r:embed="rId6"/>
            <a:tile algn="tl" flip="none" sx="100000" sy="100000" tx="0" ty="0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21" name="Содержимое 2"/>
          <p:cNvSpPr txBox="1"/>
          <p:nvPr/>
        </p:nvSpPr>
        <p:spPr>
          <a:xfrm>
            <a:off x="0" y="3857628"/>
            <a:ext cx="4857720" cy="2714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defRPr/>
            </a:pPr>
            <a:r>
              <a:rPr lang="ru-RU" sz="2400" dirty="0" smtClean="0"/>
              <a:t>Пакет теплозащиты: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3200" dirty="0" smtClean="0"/>
              <a:t>Аблятор</a:t>
            </a:r>
            <a:endParaRPr lang="ru-RU" sz="3200" baseline="-25000" dirty="0" smtClean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ru-RU" sz="3200" dirty="0" smtClean="0"/>
              <a:t>Теплоизоляция</a:t>
            </a:r>
            <a:endParaRPr lang="ru-RU" sz="3200" baseline="-25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defRPr/>
            </a:pPr>
            <a:r>
              <a:rPr lang="ru-RU" sz="3200" dirty="0" smtClean="0"/>
              <a:t>Корпус ЛА</a:t>
            </a:r>
            <a:endParaRPr lang="ru-RU" sz="3200" baseline="-25000" dirty="0" smtClean="0"/>
          </a:p>
        </p:txBody>
      </p:sp>
      <p:sp>
        <p:nvSpPr>
          <p:cNvPr id="22" name="Штриховая стрелка вправо 21"/>
          <p:cNvSpPr/>
          <p:nvPr/>
        </p:nvSpPr>
        <p:spPr>
          <a:xfrm rot="5400000">
            <a:off x="3654479" y="3719376"/>
            <a:ext cx="295000" cy="428628"/>
          </a:xfrm>
          <a:prstGeom prst="stripedRightArrow">
            <a:avLst>
              <a:gd name="adj1" fmla="val 43436"/>
              <a:gd name="adj2" fmla="val 3687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3571868" y="3238828"/>
            <a:ext cx="42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Q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715436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Изменение теплового режима корпуса ЛА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64305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V</a:t>
            </a:r>
            <a:r>
              <a:rPr lang="ru-RU" sz="2400" i="1" baseline="-25000" dirty="0" err="1" smtClean="0"/>
              <a:t>вх</a:t>
            </a:r>
            <a:r>
              <a:rPr lang="ru-RU" sz="2400" i="1" baseline="-25000" dirty="0" smtClean="0"/>
              <a:t> </a:t>
            </a:r>
            <a:r>
              <a:rPr lang="en-US" sz="2400" dirty="0" smtClean="0">
                <a:cs typeface="Times New Roman"/>
              </a:rPr>
              <a:t>≈</a:t>
            </a:r>
            <a:r>
              <a:rPr lang="ru-RU" sz="2400" dirty="0" smtClean="0">
                <a:cs typeface="Times New Roman"/>
              </a:rPr>
              <a:t> 6</a:t>
            </a:r>
            <a:r>
              <a:rPr lang="en-US" sz="2400" dirty="0" smtClean="0"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км</a:t>
            </a:r>
            <a:r>
              <a:rPr lang="en-US" sz="2400" dirty="0" smtClean="0">
                <a:cs typeface="Times New Roman"/>
              </a:rPr>
              <a:t>/</a:t>
            </a:r>
            <a:r>
              <a:rPr lang="ru-RU" sz="2400" dirty="0" smtClean="0">
                <a:cs typeface="Times New Roman"/>
              </a:rPr>
              <a:t>с</a:t>
            </a:r>
            <a:r>
              <a:rPr lang="en-US" sz="2400" dirty="0" smtClean="0">
                <a:cs typeface="Times New Roman"/>
              </a:rPr>
              <a:t>, </a:t>
            </a:r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err="1" smtClean="0">
                <a:cs typeface="Times New Roman"/>
              </a:rPr>
              <a:t>вх</a:t>
            </a:r>
            <a:r>
              <a:rPr lang="en-US" sz="2400" i="1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= 35º</a:t>
            </a:r>
            <a:endParaRPr lang="ru-RU" sz="2400" dirty="0" smtClean="0"/>
          </a:p>
        </p:txBody>
      </p:sp>
      <p:graphicFrame>
        <p:nvGraphicFramePr>
          <p:cNvPr id="9" name="Диаграмма 8"/>
          <p:cNvGraphicFramePr>
            <a:graphicFrameLocks xmlns:a="http://schemas.openxmlformats.org/drawingml/2006/main"/>
          </p:cNvGraphicFramePr>
          <p:nvPr/>
        </p:nvGraphicFramePr>
        <p:xfrm>
          <a:off x="1" y="2214554"/>
          <a:ext cx="4572000" cy="4481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/>
          <p:cNvGraphicFramePr>
            <a:graphicFrameLocks xmlns:a="http://schemas.openxmlformats.org/drawingml/2006/main"/>
          </p:cNvGraphicFramePr>
          <p:nvPr/>
        </p:nvGraphicFramePr>
        <p:xfrm>
          <a:off x="4499992" y="2233329"/>
          <a:ext cx="4644008" cy="442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68552" y="1634357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V</a:t>
            </a:r>
            <a:r>
              <a:rPr lang="ru-RU" sz="2400" i="1" baseline="-25000" dirty="0" err="1" smtClean="0"/>
              <a:t>вх</a:t>
            </a:r>
            <a:r>
              <a:rPr lang="ru-RU" sz="2400" i="1" baseline="-25000" dirty="0" smtClean="0"/>
              <a:t> </a:t>
            </a:r>
            <a:r>
              <a:rPr lang="en-US" sz="2400" dirty="0" smtClean="0">
                <a:cs typeface="Times New Roman"/>
              </a:rPr>
              <a:t>&gt;</a:t>
            </a:r>
            <a:r>
              <a:rPr lang="ru-RU" sz="2400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7 </a:t>
            </a:r>
            <a:r>
              <a:rPr lang="ru-RU" sz="2400" dirty="0" smtClean="0">
                <a:cs typeface="Times New Roman"/>
              </a:rPr>
              <a:t>км</a:t>
            </a:r>
            <a:r>
              <a:rPr lang="en-US" sz="2400" dirty="0" smtClean="0">
                <a:cs typeface="Times New Roman"/>
              </a:rPr>
              <a:t>/</a:t>
            </a:r>
            <a:r>
              <a:rPr lang="ru-RU" sz="2400" dirty="0" smtClean="0">
                <a:cs typeface="Times New Roman"/>
              </a:rPr>
              <a:t>с</a:t>
            </a:r>
            <a:r>
              <a:rPr lang="en-US" sz="2400" dirty="0" smtClean="0">
                <a:cs typeface="Times New Roman"/>
              </a:rPr>
              <a:t>, </a:t>
            </a:r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err="1" smtClean="0">
                <a:cs typeface="Times New Roman"/>
              </a:rPr>
              <a:t>вх</a:t>
            </a:r>
            <a:r>
              <a:rPr lang="en-US" sz="2400" i="1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&lt; 20º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71414"/>
            <a:ext cx="8786874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Влияние деградации отдельного параметра аблятора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484784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V</a:t>
            </a:r>
            <a:r>
              <a:rPr lang="ru-RU" sz="2400" i="1" baseline="-25000" dirty="0" err="1" smtClean="0"/>
              <a:t>вх</a:t>
            </a:r>
            <a:r>
              <a:rPr lang="ru-RU" sz="2400" i="1" baseline="-25000" dirty="0" smtClean="0"/>
              <a:t> </a:t>
            </a:r>
            <a:r>
              <a:rPr lang="en-US" sz="2400" dirty="0" smtClean="0">
                <a:cs typeface="Times New Roman"/>
              </a:rPr>
              <a:t>≈</a:t>
            </a:r>
            <a:r>
              <a:rPr lang="ru-RU" sz="2400" dirty="0" smtClean="0">
                <a:cs typeface="Times New Roman"/>
              </a:rPr>
              <a:t> 6</a:t>
            </a:r>
            <a:r>
              <a:rPr lang="en-US" sz="2400" dirty="0" smtClean="0">
                <a:cs typeface="Times New Roman"/>
              </a:rPr>
              <a:t> </a:t>
            </a:r>
            <a:r>
              <a:rPr lang="ru-RU" sz="2400" dirty="0" smtClean="0">
                <a:cs typeface="Times New Roman"/>
              </a:rPr>
              <a:t>км</a:t>
            </a:r>
            <a:r>
              <a:rPr lang="en-US" sz="2400" dirty="0" smtClean="0">
                <a:cs typeface="Times New Roman"/>
              </a:rPr>
              <a:t>/</a:t>
            </a:r>
            <a:r>
              <a:rPr lang="ru-RU" sz="2400" dirty="0" smtClean="0">
                <a:cs typeface="Times New Roman"/>
              </a:rPr>
              <a:t>с</a:t>
            </a:r>
            <a:r>
              <a:rPr lang="en-US" sz="2400" dirty="0" smtClean="0">
                <a:cs typeface="Times New Roman"/>
              </a:rPr>
              <a:t>, </a:t>
            </a:r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err="1" smtClean="0">
                <a:cs typeface="Times New Roman"/>
              </a:rPr>
              <a:t>вх</a:t>
            </a:r>
            <a:r>
              <a:rPr lang="en-US" sz="2400" i="1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= </a:t>
            </a:r>
            <a:r>
              <a:rPr lang="ru-RU" sz="2400" dirty="0" smtClean="0">
                <a:cs typeface="Times New Roman"/>
              </a:rPr>
              <a:t>3</a:t>
            </a:r>
            <a:r>
              <a:rPr lang="en-US" sz="2400" dirty="0" smtClean="0">
                <a:cs typeface="Times New Roman"/>
              </a:rPr>
              <a:t>5º</a:t>
            </a:r>
            <a:endParaRPr lang="ru-RU" sz="2400" dirty="0" smtClean="0"/>
          </a:p>
        </p:txBody>
      </p:sp>
      <p:graphicFrame>
        <p:nvGraphicFramePr>
          <p:cNvPr id="9" name="Диаграмма 8"/>
          <p:cNvGraphicFramePr>
            <a:graphicFrameLocks xmlns:a="http://schemas.openxmlformats.org/drawingml/2006/main"/>
          </p:cNvGraphicFramePr>
          <p:nvPr/>
        </p:nvGraphicFramePr>
        <p:xfrm>
          <a:off x="0" y="2214554"/>
          <a:ext cx="4572000" cy="4500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/>
          <p:cNvGraphicFramePr>
            <a:graphicFrameLocks xmlns:a="http://schemas.openxmlformats.org/drawingml/2006/main"/>
          </p:cNvGraphicFramePr>
          <p:nvPr/>
        </p:nvGraphicFramePr>
        <p:xfrm>
          <a:off x="4572000" y="2204864"/>
          <a:ext cx="4572000" cy="4516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0" y="1500174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V</a:t>
            </a:r>
            <a:r>
              <a:rPr lang="ru-RU" sz="2400" i="1" baseline="-25000" dirty="0" err="1" smtClean="0"/>
              <a:t>вх</a:t>
            </a:r>
            <a:r>
              <a:rPr lang="ru-RU" sz="2400" i="1" baseline="-25000" dirty="0" smtClean="0"/>
              <a:t> </a:t>
            </a:r>
            <a:r>
              <a:rPr lang="en-US" sz="2400" dirty="0" smtClean="0">
                <a:cs typeface="Times New Roman"/>
              </a:rPr>
              <a:t>&gt;</a:t>
            </a:r>
            <a:r>
              <a:rPr lang="ru-RU" sz="2400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7 </a:t>
            </a:r>
            <a:r>
              <a:rPr lang="ru-RU" sz="2400" dirty="0" smtClean="0">
                <a:cs typeface="Times New Roman"/>
              </a:rPr>
              <a:t>км</a:t>
            </a:r>
            <a:r>
              <a:rPr lang="en-US" sz="2400" dirty="0" smtClean="0">
                <a:cs typeface="Times New Roman"/>
              </a:rPr>
              <a:t>/</a:t>
            </a:r>
            <a:r>
              <a:rPr lang="ru-RU" sz="2400" dirty="0" smtClean="0">
                <a:cs typeface="Times New Roman"/>
              </a:rPr>
              <a:t>с</a:t>
            </a:r>
            <a:r>
              <a:rPr lang="en-US" sz="2400" dirty="0" smtClean="0">
                <a:cs typeface="Times New Roman"/>
              </a:rPr>
              <a:t>, </a:t>
            </a:r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err="1" smtClean="0">
                <a:cs typeface="Times New Roman"/>
              </a:rPr>
              <a:t>вх</a:t>
            </a:r>
            <a:r>
              <a:rPr lang="en-US" sz="2400" i="1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&lt; 20º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85800" y="2819400"/>
            <a:ext cx="7772400" cy="1362075"/>
          </a:xfrm>
        </p:spPr>
        <p:txBody>
          <a:bodyPr/>
          <a:lstStyle/>
          <a:p>
            <a:pPr algn="ctr"/>
            <a:r>
              <a:rPr lang="ru-RU" dirty="0" smtClean="0"/>
              <a:t>Критерий продления срока эксплуатации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71422"/>
            <a:ext cx="9144000" cy="1143000"/>
          </a:xfrm>
        </p:spPr>
        <p:txBody>
          <a:bodyPr>
            <a:normAutofit/>
          </a:bodyPr>
          <a:lstStyle/>
          <a:p>
            <a:r>
              <a:rPr lang="ru-RU" sz="3800" dirty="0" smtClean="0"/>
              <a:t>Эквивалентность ТЗП спускаемых </a:t>
            </a:r>
            <a:r>
              <a:rPr lang="ru-RU" sz="3800" dirty="0" smtClean="0"/>
              <a:t>ЛА</a:t>
            </a:r>
            <a:endParaRPr lang="ru-RU" sz="3800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857752" y="1394572"/>
            <a:ext cx="42862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600" b="1" i="1" dirty="0" smtClean="0">
                <a:latin typeface="Times New Roman"/>
                <a:cs typeface="Times New Roman"/>
              </a:rPr>
              <a:t>λ</a:t>
            </a:r>
            <a:r>
              <a:rPr lang="ru-RU" sz="2600" b="1" i="1" baseline="-25000" dirty="0">
                <a:cs typeface="Times New Roman"/>
              </a:rPr>
              <a:t>эк</a:t>
            </a:r>
            <a:r>
              <a:rPr lang="ru-RU" sz="2600" dirty="0" smtClean="0">
                <a:latin typeface="Times New Roman"/>
                <a:cs typeface="Times New Roman"/>
              </a:rPr>
              <a:t> – коэффициент теплопроводности ТЗП</a:t>
            </a:r>
          </a:p>
          <a:p>
            <a:r>
              <a:rPr lang="ru-RU" sz="2600" b="1" i="1" dirty="0" err="1" smtClean="0">
                <a:latin typeface="Times New Roman"/>
                <a:cs typeface="Times New Roman"/>
              </a:rPr>
              <a:t>с</a:t>
            </a:r>
            <a:r>
              <a:rPr lang="ru-RU" sz="2600" b="1" i="1" baseline="-25000" dirty="0" err="1" smtClean="0">
                <a:latin typeface="Times New Roman"/>
                <a:cs typeface="Times New Roman"/>
              </a:rPr>
              <a:t>эк</a:t>
            </a:r>
            <a:r>
              <a:rPr lang="ru-RU" sz="2600" dirty="0" smtClean="0">
                <a:latin typeface="Times New Roman"/>
                <a:cs typeface="Times New Roman"/>
              </a:rPr>
              <a:t> –</a:t>
            </a:r>
            <a:r>
              <a:rPr lang="ru-RU" sz="2600" dirty="0" smtClean="0">
                <a:cs typeface="Times New Roman"/>
              </a:rPr>
              <a:t>теплоемкость ТЗП</a:t>
            </a:r>
          </a:p>
          <a:p>
            <a:r>
              <a:rPr lang="ru-RU" sz="2600" b="1" i="1" dirty="0" err="1" smtClean="0">
                <a:cs typeface="Times New Roman"/>
              </a:rPr>
              <a:t>с</a:t>
            </a:r>
            <a:r>
              <a:rPr lang="ru-RU" sz="2600" b="1" i="1" baseline="-25000" dirty="0" err="1" smtClean="0">
                <a:cs typeface="Times New Roman"/>
              </a:rPr>
              <a:t>аб</a:t>
            </a:r>
            <a:r>
              <a:rPr lang="ru-RU" sz="2600" dirty="0" smtClean="0">
                <a:cs typeface="Times New Roman"/>
              </a:rPr>
              <a:t> –</a:t>
            </a:r>
            <a:r>
              <a:rPr lang="ru-RU" sz="2600" dirty="0">
                <a:cs typeface="Times New Roman"/>
              </a:rPr>
              <a:t>теплоемкость </a:t>
            </a:r>
            <a:r>
              <a:rPr lang="ru-RU" sz="2600" dirty="0" smtClean="0">
                <a:cs typeface="Times New Roman"/>
              </a:rPr>
              <a:t>аблятора</a:t>
            </a:r>
            <a:endParaRPr lang="ru-RU" sz="2600" dirty="0" smtClean="0">
              <a:latin typeface="Times New Roman"/>
              <a:cs typeface="Times New Roman"/>
            </a:endParaRPr>
          </a:p>
          <a:p>
            <a:r>
              <a:rPr lang="el-GR" sz="2600" b="1" i="1" dirty="0" smtClean="0">
                <a:latin typeface="Times New Roman"/>
                <a:cs typeface="Times New Roman"/>
              </a:rPr>
              <a:t>ρ</a:t>
            </a:r>
            <a:r>
              <a:rPr lang="ru-RU" sz="2600" b="1" i="1" baseline="-25000" dirty="0">
                <a:cs typeface="Times New Roman"/>
              </a:rPr>
              <a:t>эк</a:t>
            </a:r>
            <a:r>
              <a:rPr lang="ru-RU" sz="2600" dirty="0" smtClean="0">
                <a:latin typeface="Times New Roman"/>
                <a:cs typeface="Times New Roman"/>
              </a:rPr>
              <a:t> – </a:t>
            </a:r>
            <a:r>
              <a:rPr lang="ru-RU" sz="2600" dirty="0">
                <a:cs typeface="Times New Roman"/>
              </a:rPr>
              <a:t>плотность </a:t>
            </a:r>
            <a:r>
              <a:rPr lang="ru-RU" sz="2600" dirty="0" smtClean="0">
                <a:cs typeface="Times New Roman"/>
              </a:rPr>
              <a:t>ТЗП</a:t>
            </a:r>
          </a:p>
          <a:p>
            <a:r>
              <a:rPr lang="el-GR" sz="2600" b="1" i="1" dirty="0" smtClean="0">
                <a:cs typeface="Times New Roman"/>
              </a:rPr>
              <a:t>ρ</a:t>
            </a:r>
            <a:r>
              <a:rPr lang="ru-RU" sz="2600" b="1" i="1" baseline="-25000" dirty="0" err="1" smtClean="0">
                <a:cs typeface="Times New Roman"/>
              </a:rPr>
              <a:t>аб</a:t>
            </a:r>
            <a:r>
              <a:rPr lang="ru-RU" sz="2600" dirty="0" smtClean="0">
                <a:cs typeface="Times New Roman"/>
              </a:rPr>
              <a:t> </a:t>
            </a:r>
            <a:r>
              <a:rPr lang="ru-RU" sz="2600" dirty="0">
                <a:cs typeface="Times New Roman"/>
              </a:rPr>
              <a:t>– </a:t>
            </a:r>
            <a:r>
              <a:rPr lang="ru-RU" sz="2600" dirty="0" smtClean="0">
                <a:cs typeface="Times New Roman"/>
              </a:rPr>
              <a:t>плотность аблятора</a:t>
            </a:r>
            <a:endParaRPr lang="ru-RU" sz="2600" dirty="0" smtClean="0">
              <a:latin typeface="Times New Roman"/>
              <a:cs typeface="Times New Roman"/>
            </a:endParaRPr>
          </a:p>
          <a:p>
            <a:r>
              <a:rPr lang="ru-RU" sz="2600" b="1" i="1" dirty="0" err="1" smtClean="0">
                <a:latin typeface="Times New Roman"/>
                <a:cs typeface="Times New Roman"/>
              </a:rPr>
              <a:t>α</a:t>
            </a:r>
            <a:r>
              <a:rPr lang="ru-RU" sz="2600" dirty="0" err="1" smtClean="0">
                <a:latin typeface="Times New Roman"/>
                <a:cs typeface="Times New Roman"/>
              </a:rPr>
              <a:t> </a:t>
            </a:r>
            <a:r>
              <a:rPr lang="ru-RU" sz="2600" dirty="0" smtClean="0">
                <a:latin typeface="Times New Roman"/>
                <a:cs typeface="Times New Roman"/>
              </a:rPr>
              <a:t>– коэффициент теплоотдачи</a:t>
            </a:r>
          </a:p>
          <a:p>
            <a:r>
              <a:rPr lang="en-US" sz="2600" b="1" i="1" dirty="0" smtClean="0">
                <a:latin typeface="Times New Roman"/>
                <a:cs typeface="Times New Roman"/>
              </a:rPr>
              <a:t>l</a:t>
            </a:r>
            <a:r>
              <a:rPr lang="en-US" sz="2600" b="1" i="1" baseline="-25000" dirty="0" smtClean="0">
                <a:latin typeface="Times New Roman"/>
                <a:cs typeface="Times New Roman"/>
              </a:rPr>
              <a:t>0</a:t>
            </a:r>
            <a:r>
              <a:rPr lang="en-US" sz="2600" dirty="0" smtClean="0">
                <a:latin typeface="Times New Roman"/>
                <a:cs typeface="Times New Roman"/>
              </a:rPr>
              <a:t> – </a:t>
            </a:r>
            <a:r>
              <a:rPr lang="ru-RU" sz="2600" dirty="0" smtClean="0">
                <a:latin typeface="Times New Roman"/>
                <a:cs typeface="Times New Roman"/>
              </a:rPr>
              <a:t>начальная толщина теплозащиты</a:t>
            </a:r>
            <a:endParaRPr lang="en-US" sz="2600" dirty="0" smtClean="0">
              <a:latin typeface="Times New Roman"/>
              <a:cs typeface="Times New Roman"/>
            </a:endParaRPr>
          </a:p>
          <a:p>
            <a:r>
              <a:rPr lang="en-US" sz="2600" b="1" i="1" dirty="0" smtClean="0">
                <a:latin typeface="Times New Roman"/>
                <a:cs typeface="Times New Roman"/>
              </a:rPr>
              <a:t>dl</a:t>
            </a:r>
            <a:r>
              <a:rPr lang="en-US" sz="2600" dirty="0" smtClean="0">
                <a:latin typeface="Times New Roman"/>
                <a:cs typeface="Times New Roman"/>
              </a:rPr>
              <a:t> –</a:t>
            </a:r>
            <a:r>
              <a:rPr lang="ru-RU" sz="2600" dirty="0" smtClean="0">
                <a:latin typeface="Times New Roman"/>
                <a:cs typeface="Times New Roman"/>
              </a:rPr>
              <a:t> величина уноса</a:t>
            </a:r>
          </a:p>
          <a:p>
            <a:r>
              <a:rPr lang="ru-RU" sz="2600" b="1" i="1" dirty="0" err="1" smtClean="0">
                <a:latin typeface="Times New Roman"/>
                <a:cs typeface="Times New Roman"/>
              </a:rPr>
              <a:t>τ</a:t>
            </a:r>
            <a:r>
              <a:rPr lang="ru-RU" sz="2600" dirty="0" err="1" smtClean="0">
                <a:latin typeface="Times New Roman"/>
                <a:cs typeface="Times New Roman"/>
              </a:rPr>
              <a:t> </a:t>
            </a:r>
            <a:r>
              <a:rPr lang="ru-RU" sz="2600" dirty="0" smtClean="0">
                <a:latin typeface="Times New Roman"/>
                <a:cs typeface="Times New Roman"/>
              </a:rPr>
              <a:t>– длительность полёта</a:t>
            </a:r>
            <a:endParaRPr lang="ru-RU" sz="2600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03963" y="5373216"/>
            <a:ext cx="90368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i="1" dirty="0" smtClean="0"/>
              <a:t>С</a:t>
            </a:r>
            <a:r>
              <a:rPr lang="ru-RU" sz="2600" b="1" i="1" baseline="-25000" dirty="0" smtClean="0"/>
              <a:t>1</a:t>
            </a:r>
            <a:r>
              <a:rPr lang="en-US" sz="2600" dirty="0" smtClean="0"/>
              <a:t>,</a:t>
            </a:r>
            <a:r>
              <a:rPr lang="ru-RU" sz="2600" dirty="0" smtClean="0"/>
              <a:t> </a:t>
            </a:r>
            <a:r>
              <a:rPr lang="ru-RU" sz="2600" b="1" i="1" dirty="0" smtClean="0"/>
              <a:t>С</a:t>
            </a:r>
            <a:r>
              <a:rPr lang="ru-RU" sz="2600" b="1" i="1" baseline="-25000" dirty="0" smtClean="0"/>
              <a:t>2</a:t>
            </a:r>
            <a:r>
              <a:rPr lang="en-US" sz="2600" dirty="0" smtClean="0"/>
              <a:t> – </a:t>
            </a:r>
            <a:r>
              <a:rPr lang="ru-RU" sz="2600" dirty="0" smtClean="0"/>
              <a:t>коэффициенты подобия</a:t>
            </a:r>
            <a:endParaRPr lang="ru-RU" sz="2600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endParaRPr lang="ru-RU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3963" y="1772816"/>
            <a:ext cx="4518429" cy="3017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fPr>
                                <m:den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ru-RU" sz="2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u-RU" sz="2800" i="1">
                                      <a:latin typeface="Cambria Math"/>
                                    </a:rPr>
                                    <m:t>𝑑𝑙</m:t>
                                  </m:r>
                                </m:den>
                                <m:num>
                                  <m:r>
                                    <a:rPr lang="ru-RU" sz="2800" i="1">
                                      <a:latin typeface="Cambria Math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эк</m:t>
                                      </m:r>
                                    </m:sub>
                                  </m:sSub>
                                </m:num>
                              </m:f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28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b="1" i="1">
                                      <a:latin typeface="Cambria Math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ru-RU" sz="2800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ru-RU" sz="2800" b="1" i="1">
                                  <a:latin typeface="Cambria Math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fPr>
                                <m:den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эк</m:t>
                                      </m:r>
                                    </m:sub>
                                  </m:sSub>
                                  <m:r>
                                    <a:rPr lang="ru-RU" sz="2800" i="1">
                                      <a:latin typeface="Cambria Math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эк</m:t>
                                      </m:r>
                                    </m:sub>
                                  </m:sSub>
                                </m:den>
                                <m:num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эк</m:t>
                                      </m:r>
                                    </m:sub>
                                  </m:sSub>
                                </m:num>
                              </m:f>
                              <m:r>
                                <a:rPr lang="ru-RU" sz="2800" i="1">
                                  <a:latin typeface="Cambria Math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fPr>
                                <m:den>
                                  <m:sSup>
                                    <m:sSup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𝑑𝑙</m:t>
                                      </m:r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  <m:num>
                                  <m:r>
                                    <a:rPr lang="ru-RU" sz="2800" i="1">
                                      <a:latin typeface="Cambria Math"/>
                                    </a:rPr>
                                    <m:t>𝜏</m:t>
                                  </m:r>
                                </m:num>
                              </m:f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28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b="1" i="1">
                                      <a:latin typeface="Cambria Math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ru-RU" sz="2800" b="1" i="1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𝑑𝑙</m:t>
                              </m:r>
                              <m:r>
                                <a:rPr lang="ru-RU" sz="2800" i="1">
                                  <a:latin typeface="Cambria Math"/>
                                </a:rPr>
                                <m:t>~</m:t>
                              </m:r>
                              <m:f>
                                <m:f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fPr>
                                <m:den>
                                  <m:sSub>
                                    <m:sSub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аб</m:t>
                                      </m:r>
                                    </m:sub>
                                  </m:sSub>
                                  <m:r>
                                    <a:rPr lang="ru-RU" sz="2800" i="1">
                                      <a:latin typeface="Cambria Math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ru-RU" sz="28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аб</m:t>
                                          </m:r>
                                        </m:sub>
                                      </m:s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ru-RU" sz="2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ru-RU" sz="2800" i="1">
                                              <a:latin typeface="Cambria Math"/>
                                            </a:rPr>
                                            <m:t>аб</m:t>
                                          </m:r>
                                        </m:sub>
                                      </m:sSub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2800" i="1">
                                          <a:latin typeface="Cambria Math"/>
                                        </a:rPr>
                                        <m:t>𝑚</m:t>
                                      </m:r>
                                    </m:sup>
                                  </m:sSup>
                                </m:den>
                                <m:num>
                                  <m:r>
                                    <a:rPr lang="ru-RU" sz="28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</m:f>
                              <m:r>
                                <a:rPr lang="ru-RU" sz="2800" i="1">
                                  <a:latin typeface="Cambria Math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ru-RU" sz="2800" i="1">
                          <a:latin typeface="Cambria Math"/>
                        </a:rPr>
                        <m:t>,</m:t>
                      </m:r>
                    </m:oMath>
                  </m:oMathPara>
                </a14:m>
              </mc:Choice>
              <mc:Fallback/>
            </mc:AlternateContent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50206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Критерий </a:t>
            </a:r>
            <a:r>
              <a:rPr lang="ru-RU" dirty="0" smtClean="0"/>
              <a:t>подобия</a:t>
            </a:r>
            <a:r>
              <a:rPr lang="en-US" dirty="0" smtClean="0"/>
              <a:t> </a:t>
            </a:r>
            <a:r>
              <a:rPr lang="ru-RU" dirty="0" smtClean="0"/>
              <a:t>пакетов ТЗП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1714488"/>
            <a:ext cx="4071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Вариант ТЗП №1</a:t>
            </a:r>
          </a:p>
          <a:p>
            <a:pPr algn="ctr"/>
            <a:r>
              <a:rPr lang="en-US" sz="3200" b="1" i="1" dirty="0" smtClean="0"/>
              <a:t>C</a:t>
            </a:r>
            <a:r>
              <a:rPr lang="en-US" sz="3200" b="1" i="1" dirty="0" smtClean="0">
                <a:cs typeface="Times New Roman"/>
              </a:rPr>
              <a:t>´</a:t>
            </a:r>
            <a:r>
              <a:rPr lang="en-US" sz="3200" b="1" i="1" baseline="-25000" dirty="0" smtClean="0"/>
              <a:t>1</a:t>
            </a:r>
          </a:p>
          <a:p>
            <a:pPr algn="ctr"/>
            <a:r>
              <a:rPr lang="en-US" sz="3200" b="1" i="1" dirty="0" smtClean="0"/>
              <a:t>C</a:t>
            </a:r>
            <a:r>
              <a:rPr lang="en-US" sz="3200" b="1" i="1" dirty="0" smtClean="0">
                <a:cs typeface="Times New Roman"/>
              </a:rPr>
              <a:t>´</a:t>
            </a:r>
            <a:r>
              <a:rPr lang="en-US" sz="3200" b="1" i="1" baseline="-25000" dirty="0" smtClean="0"/>
              <a:t>2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786314" y="1714488"/>
            <a:ext cx="4071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Вариант ТЗП №</a:t>
            </a:r>
            <a:r>
              <a:rPr lang="en-US" sz="3200" dirty="0" smtClean="0"/>
              <a:t>2</a:t>
            </a:r>
            <a:endParaRPr lang="ru-RU" sz="3200" dirty="0" smtClean="0"/>
          </a:p>
          <a:p>
            <a:pPr algn="ctr"/>
            <a:r>
              <a:rPr lang="en-US" sz="3200" b="1" i="1" dirty="0" smtClean="0"/>
              <a:t>C</a:t>
            </a:r>
            <a:r>
              <a:rPr lang="en-US" sz="3200" b="1" i="1" dirty="0" smtClean="0">
                <a:latin typeface="Times New Roman"/>
                <a:cs typeface="Times New Roman"/>
              </a:rPr>
              <a:t>˝</a:t>
            </a:r>
            <a:r>
              <a:rPr lang="en-US" sz="3200" b="1" i="1" baseline="-25000" dirty="0" smtClean="0"/>
              <a:t>1</a:t>
            </a:r>
          </a:p>
          <a:p>
            <a:pPr algn="ctr"/>
            <a:r>
              <a:rPr lang="en-US" sz="3200" b="1" i="1" dirty="0" smtClean="0"/>
              <a:t>C</a:t>
            </a:r>
            <a:r>
              <a:rPr lang="en-US" sz="3200" b="1" i="1" dirty="0" smtClean="0">
                <a:cs typeface="Times New Roman"/>
              </a:rPr>
              <a:t>˝</a:t>
            </a:r>
            <a:r>
              <a:rPr lang="en-US" sz="3200" b="1" i="1" baseline="-25000" dirty="0" smtClean="0"/>
              <a:t>2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4000504"/>
            <a:ext cx="8572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buFont typeface="Arial" pitchFamily="34" charset="0"/>
              <a:buChar char="•"/>
            </a:pPr>
            <a:r>
              <a:rPr lang="ru-RU" sz="3600" dirty="0" smtClean="0"/>
              <a:t>Если  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en-US" sz="3600" b="1" i="1" baseline="-25000" dirty="0" smtClean="0"/>
              <a:t>1</a:t>
            </a:r>
            <a:r>
              <a:rPr lang="ru-RU" sz="3600" b="1" i="1" dirty="0" smtClean="0"/>
              <a:t>=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en-US" sz="3600" b="1" i="1" baseline="-25000" dirty="0" smtClean="0"/>
              <a:t>1</a:t>
            </a:r>
            <a:r>
              <a:rPr lang="en-US" sz="3600" b="1" i="1" dirty="0" smtClean="0"/>
              <a:t> </a:t>
            </a:r>
            <a:r>
              <a:rPr lang="ru-RU" sz="3600" dirty="0" smtClean="0"/>
              <a:t>и 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ru-RU" sz="3600" b="1" i="1" baseline="-25000" dirty="0" smtClean="0"/>
              <a:t>2</a:t>
            </a:r>
            <a:r>
              <a:rPr lang="ru-RU" sz="3600" b="1" i="1" dirty="0" smtClean="0"/>
              <a:t>=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ru-RU" sz="3600" b="1" i="1" baseline="-25000" dirty="0" smtClean="0"/>
              <a:t>2 </a:t>
            </a:r>
            <a:r>
              <a:rPr lang="ru-RU" sz="3600" dirty="0" smtClean="0"/>
              <a:t>то </a:t>
            </a:r>
            <a:r>
              <a:rPr lang="en-US" sz="3600" b="1" i="1" dirty="0" smtClean="0"/>
              <a:t>T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ru-RU" sz="3600" b="1" i="1" baseline="-25000" dirty="0" smtClean="0"/>
              <a:t>мет </a:t>
            </a:r>
            <a:r>
              <a:rPr lang="en-US" sz="3600" b="1" i="1" dirty="0" smtClean="0">
                <a:cs typeface="Times New Roman"/>
              </a:rPr>
              <a:t>≈</a:t>
            </a:r>
            <a:r>
              <a:rPr lang="ru-RU" sz="3600" b="1" i="1" dirty="0" smtClean="0"/>
              <a:t> </a:t>
            </a:r>
            <a:r>
              <a:rPr lang="en-US" sz="3600" b="1" i="1" dirty="0" smtClean="0"/>
              <a:t>T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ru-RU" sz="3600" b="1" i="1" baseline="-25000" dirty="0" smtClean="0"/>
              <a:t>мет</a:t>
            </a:r>
            <a:r>
              <a:rPr lang="ru-RU" sz="3600" b="1" i="1" dirty="0" smtClean="0"/>
              <a:t> </a:t>
            </a:r>
            <a:r>
              <a:rPr lang="ru-RU" sz="3600" dirty="0" smtClean="0"/>
              <a:t>в течении всего спуска</a:t>
            </a:r>
          </a:p>
          <a:p>
            <a:pPr marL="450850" indent="-450850">
              <a:buFont typeface="Arial" pitchFamily="34" charset="0"/>
              <a:buChar char="•"/>
            </a:pPr>
            <a:r>
              <a:rPr lang="ru-RU" sz="3600" dirty="0" smtClean="0"/>
              <a:t>Если 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en-US" sz="3600" b="1" i="1" baseline="-25000" dirty="0" smtClean="0"/>
              <a:t>1</a:t>
            </a:r>
            <a:r>
              <a:rPr lang="en-US" sz="3600" b="1" i="1" dirty="0" smtClean="0"/>
              <a:t>&gt;C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en-US" sz="3600" b="1" i="1" baseline="-25000" dirty="0" smtClean="0"/>
              <a:t>1</a:t>
            </a:r>
            <a:r>
              <a:rPr lang="en-US" sz="3600" b="1" i="1" dirty="0" smtClean="0"/>
              <a:t> </a:t>
            </a:r>
            <a:r>
              <a:rPr lang="ru-RU" sz="3600" dirty="0" smtClean="0"/>
              <a:t>и </a:t>
            </a:r>
            <a:r>
              <a:rPr lang="en-US" sz="3600" b="1" i="1" dirty="0" smtClean="0"/>
              <a:t>C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ru-RU" sz="3600" b="1" i="1" baseline="-25000" dirty="0" smtClean="0"/>
              <a:t>2</a:t>
            </a:r>
            <a:r>
              <a:rPr lang="en-US" sz="3600" b="1" i="1" dirty="0" smtClean="0"/>
              <a:t>&gt;C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ru-RU" sz="3600" b="1" i="1" baseline="-25000" dirty="0" smtClean="0"/>
              <a:t>2 </a:t>
            </a:r>
            <a:r>
              <a:rPr lang="ru-RU" sz="3600" dirty="0" smtClean="0"/>
              <a:t>то </a:t>
            </a:r>
            <a:r>
              <a:rPr lang="en-US" sz="3600" b="1" i="1" dirty="0" smtClean="0"/>
              <a:t>T</a:t>
            </a:r>
            <a:r>
              <a:rPr lang="en-US" sz="3600" b="1" i="1" dirty="0" smtClean="0">
                <a:cs typeface="Times New Roman"/>
              </a:rPr>
              <a:t>´</a:t>
            </a:r>
            <a:r>
              <a:rPr lang="ru-RU" sz="3600" b="1" i="1" baseline="-25000" dirty="0" smtClean="0"/>
              <a:t>мет </a:t>
            </a:r>
            <a:r>
              <a:rPr lang="en-US" sz="3600" b="1" i="1" dirty="0" smtClean="0"/>
              <a:t>&gt;</a:t>
            </a:r>
            <a:r>
              <a:rPr lang="ru-RU" sz="3600" b="1" i="1" dirty="0" smtClean="0"/>
              <a:t> </a:t>
            </a:r>
            <a:r>
              <a:rPr lang="en-US" sz="3600" b="1" i="1" dirty="0" smtClean="0"/>
              <a:t>T</a:t>
            </a:r>
            <a:r>
              <a:rPr lang="en-US" sz="3600" b="1" i="1" dirty="0" smtClean="0">
                <a:cs typeface="Times New Roman"/>
              </a:rPr>
              <a:t>˝</a:t>
            </a:r>
            <a:r>
              <a:rPr lang="ru-RU" sz="3600" b="1" i="1" baseline="-25000" dirty="0" smtClean="0"/>
              <a:t>мет</a:t>
            </a:r>
            <a:r>
              <a:rPr lang="ru-RU" sz="3600" b="1" i="1" dirty="0" smtClean="0"/>
              <a:t> </a:t>
            </a:r>
            <a:br>
              <a:rPr lang="ru-RU" sz="3600" b="1" i="1" dirty="0" smtClean="0"/>
            </a:br>
            <a:r>
              <a:rPr lang="ru-RU" sz="3600" dirty="0" smtClean="0"/>
              <a:t>в течении всего спуска. 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Критерий продления срока эксплуатации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715016"/>
          </a:xfrm>
        </p:spPr>
        <p:txBody>
          <a:bodyPr/>
          <a:lstStyle/>
          <a:p>
            <a:pPr>
              <a:buNone/>
            </a:pPr>
            <a:r>
              <a:rPr lang="ru-RU" sz="2800" i="1" dirty="0" smtClean="0"/>
              <a:t>На этапе проектирования:</a:t>
            </a:r>
            <a:endParaRPr lang="en-US" sz="2800" i="1" dirty="0" smtClean="0"/>
          </a:p>
          <a:p>
            <a:r>
              <a:rPr lang="ru-RU" sz="2800" dirty="0" smtClean="0"/>
              <a:t>Фиксируется максимально теплонапряженная траектория</a:t>
            </a:r>
            <a:endParaRPr lang="en-US" sz="2800" dirty="0" smtClean="0"/>
          </a:p>
          <a:p>
            <a:r>
              <a:rPr lang="ru-RU" sz="2800" dirty="0" smtClean="0"/>
              <a:t>Рассчитывается величина уноса</a:t>
            </a:r>
          </a:p>
          <a:p>
            <a:r>
              <a:rPr lang="ru-RU" sz="2800" dirty="0" smtClean="0"/>
              <a:t>Рассчитываются коэффициенты </a:t>
            </a:r>
            <a:r>
              <a:rPr lang="en-US" sz="2800" b="1" i="1" dirty="0" smtClean="0"/>
              <a:t>C</a:t>
            </a:r>
            <a:r>
              <a:rPr lang="en-US" sz="2800" b="1" i="1" baseline="-25000" dirty="0" smtClean="0"/>
              <a:t>1</a:t>
            </a:r>
            <a:r>
              <a:rPr lang="ru-RU" sz="2800" b="1" i="1" baseline="-25000" dirty="0" smtClean="0"/>
              <a:t> </a:t>
            </a:r>
            <a:r>
              <a:rPr lang="en-US" sz="2800" b="1" i="1" baseline="-25000" dirty="0" smtClean="0"/>
              <a:t>max</a:t>
            </a:r>
            <a:r>
              <a:rPr lang="en-US" sz="2800" i="1" dirty="0" smtClean="0"/>
              <a:t> </a:t>
            </a:r>
            <a:r>
              <a:rPr lang="ru-RU" sz="2800" dirty="0" smtClean="0"/>
              <a:t>и </a:t>
            </a:r>
            <a:r>
              <a:rPr lang="en-US" sz="2800" b="1" i="1" dirty="0" smtClean="0"/>
              <a:t>C</a:t>
            </a:r>
            <a:r>
              <a:rPr lang="en-US" sz="2800" b="1" i="1" baseline="-25000" dirty="0" smtClean="0"/>
              <a:t>2</a:t>
            </a:r>
            <a:r>
              <a:rPr lang="ru-RU" sz="2800" b="1" i="1" baseline="-25000" dirty="0" smtClean="0"/>
              <a:t> </a:t>
            </a:r>
            <a:r>
              <a:rPr lang="en-US" sz="2800" b="1" i="1" baseline="-25000" dirty="0" smtClean="0"/>
              <a:t>max</a:t>
            </a:r>
            <a:r>
              <a:rPr lang="en-US" sz="2800" b="1" i="1" dirty="0" smtClean="0"/>
              <a:t> </a:t>
            </a:r>
            <a:endParaRPr lang="ru-RU" sz="2800" b="1" i="1" dirty="0" smtClean="0"/>
          </a:p>
          <a:p>
            <a:endParaRPr lang="ru-RU" sz="900" b="1" i="1" dirty="0" smtClean="0"/>
          </a:p>
          <a:p>
            <a:pPr>
              <a:buNone/>
            </a:pPr>
            <a:r>
              <a:rPr lang="ru-RU" sz="2800" i="1" dirty="0" smtClean="0"/>
              <a:t>При продлении сроков эксплуатации</a:t>
            </a:r>
            <a:r>
              <a:rPr lang="en-US" sz="2800" i="1" dirty="0" smtClean="0"/>
              <a:t>:</a:t>
            </a:r>
          </a:p>
          <a:p>
            <a:r>
              <a:rPr lang="ru-RU" sz="2800" dirty="0" smtClean="0"/>
              <a:t>Измеряется значение теплопроводности, теплоемкости и плотности теплозащиты</a:t>
            </a:r>
            <a:endParaRPr lang="en-US" sz="2800" dirty="0" smtClean="0"/>
          </a:p>
          <a:p>
            <a:r>
              <a:rPr lang="ru-RU" sz="2800" dirty="0" smtClean="0"/>
              <a:t>Рассчитываются </a:t>
            </a:r>
            <a:r>
              <a:rPr lang="en-US" sz="2800" b="1" i="1" dirty="0" smtClean="0"/>
              <a:t>C</a:t>
            </a:r>
            <a:r>
              <a:rPr lang="en-US" sz="2800" b="1" i="1" dirty="0" smtClean="0">
                <a:latin typeface="Times New Roman"/>
                <a:cs typeface="Times New Roman"/>
              </a:rPr>
              <a:t>´</a:t>
            </a:r>
            <a:r>
              <a:rPr lang="en-US" sz="2800" b="1" i="1" baseline="-25000" dirty="0" smtClean="0"/>
              <a:t>1</a:t>
            </a:r>
            <a:r>
              <a:rPr lang="en-US" sz="2800" dirty="0" smtClean="0"/>
              <a:t> </a:t>
            </a:r>
            <a:r>
              <a:rPr lang="ru-RU" sz="2800" dirty="0" smtClean="0"/>
              <a:t>и </a:t>
            </a:r>
            <a:r>
              <a:rPr lang="en-US" sz="2800" b="1" i="1" dirty="0" smtClean="0"/>
              <a:t>C</a:t>
            </a:r>
            <a:r>
              <a:rPr lang="en-US" sz="2800" b="1" i="1" dirty="0" smtClean="0">
                <a:cs typeface="Times New Roman"/>
              </a:rPr>
              <a:t> ´</a:t>
            </a:r>
            <a:r>
              <a:rPr lang="en-US" sz="2800" b="1" i="1" baseline="-25000" dirty="0" smtClean="0"/>
              <a:t>2</a:t>
            </a:r>
            <a:endParaRPr lang="ru-RU" sz="2800" b="1" i="1" baseline="-25000" dirty="0" smtClean="0"/>
          </a:p>
          <a:p>
            <a:r>
              <a:rPr lang="ru-RU" sz="2800" dirty="0" smtClean="0"/>
              <a:t>Если </a:t>
            </a:r>
            <a:r>
              <a:rPr lang="en-US" sz="2800" b="1" i="1" dirty="0" smtClean="0"/>
              <a:t>C</a:t>
            </a:r>
            <a:r>
              <a:rPr lang="en-US" sz="2800" b="1" i="1" baseline="-25000" dirty="0" smtClean="0"/>
              <a:t>1 max </a:t>
            </a:r>
            <a:r>
              <a:rPr lang="en-US" sz="2800" b="1" i="1" dirty="0" smtClean="0"/>
              <a:t>&gt; C</a:t>
            </a:r>
            <a:r>
              <a:rPr lang="en-US" sz="2800" b="1" i="1" dirty="0" smtClean="0">
                <a:cs typeface="Times New Roman"/>
              </a:rPr>
              <a:t>´</a:t>
            </a:r>
            <a:r>
              <a:rPr lang="en-US" sz="2800" b="1" i="1" baseline="-25000" dirty="0" smtClean="0"/>
              <a:t>1</a:t>
            </a:r>
            <a:r>
              <a:rPr lang="en-US" sz="2800" b="1" i="1" dirty="0" smtClean="0"/>
              <a:t> </a:t>
            </a:r>
            <a:r>
              <a:rPr lang="ru-RU" sz="2800" dirty="0" smtClean="0"/>
              <a:t>и </a:t>
            </a:r>
            <a:r>
              <a:rPr lang="en-US" sz="2800" b="1" i="1" dirty="0" smtClean="0"/>
              <a:t>C</a:t>
            </a:r>
            <a:r>
              <a:rPr lang="ru-RU" sz="2800" b="1" i="1" baseline="-25000" dirty="0" smtClean="0"/>
              <a:t>2</a:t>
            </a:r>
            <a:r>
              <a:rPr lang="en-US" sz="2800" b="1" i="1" baseline="-25000" dirty="0" smtClean="0"/>
              <a:t> max </a:t>
            </a:r>
            <a:r>
              <a:rPr lang="en-US" sz="2800" b="1" i="1" dirty="0" smtClean="0"/>
              <a:t>&gt; C</a:t>
            </a:r>
            <a:r>
              <a:rPr lang="en-US" sz="2800" b="1" i="1" dirty="0" smtClean="0">
                <a:cs typeface="Times New Roman"/>
              </a:rPr>
              <a:t>´</a:t>
            </a:r>
            <a:r>
              <a:rPr lang="ru-RU" sz="2800" b="1" i="1" baseline="-25000" dirty="0" smtClean="0"/>
              <a:t>2</a:t>
            </a:r>
            <a:r>
              <a:rPr lang="ru-RU" sz="2800" b="1" i="1" dirty="0" smtClean="0"/>
              <a:t> </a:t>
            </a:r>
            <a:r>
              <a:rPr lang="ru-RU" sz="2800" dirty="0" smtClean="0"/>
              <a:t>то сроки эксплуатации могут быть увеличены.</a:t>
            </a:r>
            <a:endParaRPr lang="en-US" sz="2800" baseline="-25000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r>
              <a:rPr lang="ru-RU" dirty="0" smtClean="0"/>
              <a:t>Длительные сроки хранения и наземной эксплуатации приводят к существенной деградации ТФХ материалов внешнего слоя теплозащиты ЛА.</a:t>
            </a:r>
          </a:p>
          <a:p>
            <a:r>
              <a:rPr lang="ru-RU" dirty="0" smtClean="0"/>
              <a:t>Серией расчетов показано влияние деградации ТФХ на тепловые режимы, а также вклад отдельной характеристики материала в итоговую температуру корпуса ЛА</a:t>
            </a:r>
          </a:p>
          <a:p>
            <a:r>
              <a:rPr lang="ru-RU" dirty="0" smtClean="0"/>
              <a:t>Предложен критерий обеспечения теплового режима спускаемых ЛА при продлении сроков эксплуатации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115717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i="1" dirty="0" smtClean="0"/>
              <a:t>Спасибо</a:t>
            </a:r>
            <a:r>
              <a:rPr lang="en-US" sz="4400" i="1" dirty="0" smtClean="0"/>
              <a:t> </a:t>
            </a:r>
            <a:r>
              <a:rPr lang="ru-RU" sz="4400" i="1" dirty="0" smtClean="0"/>
              <a:t>за внимание</a:t>
            </a:r>
            <a:r>
              <a:rPr lang="en-US" sz="4400" i="1" dirty="0" smtClean="0"/>
              <a:t>!</a:t>
            </a:r>
            <a:endParaRPr lang="ru-RU" sz="44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0"/>
            <a:ext cx="9001156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i="1" dirty="0" smtClean="0"/>
              <a:t>Цель:</a:t>
            </a:r>
          </a:p>
          <a:p>
            <a:r>
              <a:rPr lang="ru-RU" dirty="0" smtClean="0"/>
              <a:t>разработка метода учета длительных сроков хранения и наземной эксплуатации при проектировании теплозащиты спускаемых ЛА</a:t>
            </a:r>
          </a:p>
          <a:p>
            <a:pPr>
              <a:buNone/>
            </a:pPr>
            <a:r>
              <a:rPr lang="ru-RU" b="1" i="1" dirty="0" smtClean="0"/>
              <a:t>Задачи:</a:t>
            </a:r>
          </a:p>
          <a:p>
            <a:r>
              <a:rPr lang="ru-RU" sz="3100" dirty="0" smtClean="0"/>
              <a:t>Оценка влияния процесса старения на ТФХ теплозащиты ЛА</a:t>
            </a:r>
          </a:p>
          <a:p>
            <a:r>
              <a:rPr lang="ru-RU" sz="3100" dirty="0" smtClean="0"/>
              <a:t>Анализ влияния процесса старения материала на тепловые режимы ЛА</a:t>
            </a:r>
          </a:p>
          <a:p>
            <a:r>
              <a:rPr lang="ru-RU" sz="3100" dirty="0" smtClean="0"/>
              <a:t>Расчет коэффициентов запаса толщины теплозащиты</a:t>
            </a:r>
          </a:p>
          <a:p>
            <a:r>
              <a:rPr lang="ru-RU" sz="3100" dirty="0" smtClean="0"/>
              <a:t>Разработка критериев допустимого изменения характеристик теплозащиты</a:t>
            </a:r>
            <a:endParaRPr lang="ru-RU" sz="3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Влияние деградации отдельного параметра подслоя теплозащиты</a:t>
            </a:r>
            <a:endParaRPr lang="ru-RU" dirty="0"/>
          </a:p>
        </p:txBody>
      </p:sp>
      <p:graphicFrame>
        <p:nvGraphicFramePr>
          <p:cNvPr id="4" name="Диаграмма 3"/>
          <p:cNvGraphicFramePr>
            <a:graphicFrameLocks xmlns:a="http://schemas.openxmlformats.org/drawingml/2006/main"/>
          </p:cNvGraphicFramePr>
          <p:nvPr/>
        </p:nvGraphicFramePr>
        <p:xfrm>
          <a:off x="1571604" y="1857364"/>
          <a:ext cx="5929354" cy="4857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135729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V</a:t>
            </a:r>
            <a:r>
              <a:rPr lang="ru-RU" sz="2400" i="1" baseline="-25000" dirty="0" err="1" smtClean="0"/>
              <a:t>вх</a:t>
            </a:r>
            <a:r>
              <a:rPr lang="ru-RU" sz="2400" i="1" baseline="-25000" dirty="0" smtClean="0"/>
              <a:t> </a:t>
            </a:r>
            <a:r>
              <a:rPr lang="en-US" sz="2400" dirty="0" smtClean="0">
                <a:cs typeface="Times New Roman"/>
              </a:rPr>
              <a:t>&gt;</a:t>
            </a:r>
            <a:r>
              <a:rPr lang="ru-RU" sz="2400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7 </a:t>
            </a:r>
            <a:r>
              <a:rPr lang="ru-RU" sz="2400" dirty="0" smtClean="0">
                <a:cs typeface="Times New Roman"/>
              </a:rPr>
              <a:t>км</a:t>
            </a:r>
            <a:r>
              <a:rPr lang="en-US" sz="2400" dirty="0" smtClean="0">
                <a:cs typeface="Times New Roman"/>
              </a:rPr>
              <a:t>/</a:t>
            </a:r>
            <a:r>
              <a:rPr lang="ru-RU" sz="2400" dirty="0" smtClean="0">
                <a:cs typeface="Times New Roman"/>
              </a:rPr>
              <a:t>с</a:t>
            </a:r>
            <a:r>
              <a:rPr lang="en-US" sz="2400" dirty="0" smtClean="0">
                <a:cs typeface="Times New Roman"/>
              </a:rPr>
              <a:t>, </a:t>
            </a:r>
            <a:r>
              <a:rPr lang="el-GR" sz="2400" i="1" dirty="0" smtClean="0">
                <a:cs typeface="Times New Roman"/>
              </a:rPr>
              <a:t>θ</a:t>
            </a:r>
            <a:r>
              <a:rPr lang="ru-RU" sz="2400" i="1" baseline="-25000" dirty="0" err="1" smtClean="0">
                <a:cs typeface="Times New Roman"/>
              </a:rPr>
              <a:t>вх</a:t>
            </a:r>
            <a:r>
              <a:rPr lang="en-US" sz="2400" i="1" dirty="0" smtClean="0">
                <a:cs typeface="Times New Roman"/>
              </a:rPr>
              <a:t> </a:t>
            </a:r>
            <a:r>
              <a:rPr lang="en-US" sz="2400" dirty="0" smtClean="0">
                <a:cs typeface="Times New Roman"/>
              </a:rPr>
              <a:t>&lt; 20º</a:t>
            </a:r>
            <a:endParaRPr lang="ru-RU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">
      <a:majorFont>
        <a:latin typeface="Arial"/>
        <a:ea typeface="Arial"/>
        <a:cs typeface="Arial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Arial"/>
        <a:cs typeface="Arial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Override1.xml><?xml version="1.0" encoding="utf-8"?>
<a:themeOverride xmlns:a="http://schemas.openxmlformats.org/drawingml/2006/main" xmlns:r="http://schemas.openxmlformats.org/officeDocument/2006/relationships" xmlns:p="http://schemas.openxmlformats.org/presentation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1202</TotalTime>
  <Pages>0</Pages>
  <Words>2054</Words>
  <Characters>0</Characters>
  <CharactersWithSpaces>0</CharactersWithSpaces>
  <Application>Р7-Офис/7.2.2.36</Application>
  <DocSecurity>0</DocSecurity>
  <PresentationFormat>Экран (4:3)</PresentationFormat>
  <Lines>0</Lines>
  <Paragraphs>210</Paragraphs>
  <Slides>16</Slides>
  <Notes>16</Notes>
  <HiddenSlides>2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 влиянии процесса старения материалов теплозащиты на тепловые режимы спускаемых летательных аппаратов</dc:title>
  <dc:subject/>
  <dc:creator/>
  <cp:keywords/>
  <dc:description/>
  <dc:identifier/>
  <dc:language/>
  <cp:lastModifiedBy>andrey</cp:lastModifiedBy>
  <cp:revision>207</cp:revision>
  <dcterms:modified xsi:type="dcterms:W3CDTF">2012-10-16T04:04:54Z</dcterms:modified>
  <cp:category/>
  <cp:contentStatus/>
  <cp:version/>
</cp:coreProperties>
</file>